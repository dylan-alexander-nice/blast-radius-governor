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hackathon prototype. Blast Radius Governor is a governance agent that sits at the handoff point between two AI agents. It is grounded directly in NiCE's own 2026 outlook, which names governance agents as a coming stage but never defines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NiCE's own 2026 State of Agentic AI outlook names a maturity progression that ends in governance agents. But the role is never defined. Its governance section only cites static policy thresholds like confidence thresholds and sensitive scenarios, with no mechanism behind either. That undefined stage is exactly what this project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 in multi-agent pipelines is not one agent's action. It is the handoff. Agent A produces an inference. At the boundary, that inference silently becomes Agent B's accepted premise, and B acts on it autonomously. Nothing in between checks how much of that premise was ever verified. The failure point is the boundary, not either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Governor sits at the handoff and scores two axes. Claim basis: how grounded the upstream claim is, from verified fact to speculative inference. Action reversibility: how reversible the downstream action is, from easily reversible to irreversible. An LLM returns a structured score and rationale; the route is then decided in code from the score, never by the model. The three outcomes build in as the axes combine: auto-execute, staged or canary,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working prototype, not a mockup. Left: a single handoff scored live. The Governor routed this speculative-inference, hard-to-reverse handoff to Human Review with a blast-radius score of 70, plus a rationale and a log line showing the model and latency. Right: the view-all summary, all six handoffs scored by the same gate across the full outcome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unmodified scoring engine governs two unrelated domains. An intent-classifier handing off to a billing agent, and a fraud-signal agent handing off to an account-action agent. Same two axes, same three outcomes, nothing wired to either pipeline. That is the proof it is a general governance layer, not a one-off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is that this is a first, working answer to a role NiCE's own materials name as coming but leave undefined. It gives enterprises moving from single-agent pilots into orchestrated multi-agent operations a concrete way to measure and gate handoff risk, which becomes the real blast radius once agents act on each other's inferences. And because one gate governs any pipeline, governance can be added without rebuilding integrations.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 governance agent that gates every handoff by how much of the action rests on verified fact, proven general across two unrelated domains with one unmodified engine. Built solo in a short sprint with an AI coding agent. Adjust the effort line to the real number of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B"/>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6100FF">
                  <a:alpha val="100000"/>
                </a:srgbClr>
              </a:gs>
              <a:gs pos="45000">
                <a:srgbClr val="6100FF">
                  <a:alpha val="0"/>
                </a:srgbClr>
              </a:gs>
            </a:gsLst>
            <a:path path="circle">
              <a:fillToRect l="15000" t="20000" r="85000" b="80000"/>
            </a:path>
          </a:gradFill>
          <a:ln/>
        </p:spPr>
      </p:sp>
      <p:pic>
        <p:nvPicPr>
          <p:cNvPr id="3" name="Image 0" descr="preencoded.png">    </p:cNvPr>
          <p:cNvPicPr>
            <a:picLocks noChangeAspect="1"/>
          </p:cNvPicPr>
          <p:nvPr/>
        </p:nvPicPr>
        <p:blipFill>
          <a:blip r:embed="rId1"/>
          <a:stretch>
            <a:fillRect/>
          </a:stretch>
        </p:blipFill>
        <p:spPr>
          <a:xfrm>
            <a:off x="1238250" y="704850"/>
            <a:ext cx="944314" cy="438150"/>
          </a:xfrm>
          <a:prstGeom prst="rect">
            <a:avLst/>
          </a:prstGeom>
        </p:spPr>
      </p:pic>
      <p:sp>
        <p:nvSpPr>
          <p:cNvPr id="4" name="Text 1"/>
          <p:cNvSpPr/>
          <p:nvPr/>
        </p:nvSpPr>
        <p:spPr>
          <a:xfrm>
            <a:off x="15427970" y="742950"/>
            <a:ext cx="1783958" cy="276225"/>
          </a:xfrm>
          <a:prstGeom prst="rect">
            <a:avLst/>
          </a:prstGeom>
          <a:noFill/>
          <a:ln/>
        </p:spPr>
        <p:txBody>
          <a:bodyPr wrap="square" lIns="25400" tIns="25400" rIns="25400" bIns="25400" rtlCol="0" anchor="t">
            <a:normAutofit/>
          </a:bodyPr>
          <a:lstStyle/>
          <a:p>
            <a:pPr algn="l" indent="0" marL="0">
              <a:buNone/>
            </a:pPr>
            <a:r>
              <a:rPr lang="en-US" sz="1500" spc="-15" kern="0" dirty="0">
                <a:solidFill>
                  <a:srgbClr val="FFFFFF">
                    <a:alpha val="82000"/>
                  </a:srgbClr>
                </a:solidFill>
                <a:latin typeface="Arial" pitchFamily="34" charset="0"/>
                <a:ea typeface="Arial" pitchFamily="34" charset="-122"/>
                <a:cs typeface="Arial" pitchFamily="34" charset="-120"/>
              </a:rPr>
              <a:t>Sparkathon 2026</a:t>
            </a:r>
            <a:endParaRPr lang="en-US" sz="1500" dirty="0"/>
          </a:p>
        </p:txBody>
      </p:sp>
      <p:sp>
        <p:nvSpPr>
          <p:cNvPr id="5" name="Shape 2"/>
          <p:cNvSpPr/>
          <p:nvPr/>
        </p:nvSpPr>
        <p:spPr>
          <a:xfrm>
            <a:off x="1238250" y="2308622"/>
            <a:ext cx="3963442" cy="514350"/>
          </a:xfrm>
          <a:prstGeom prst="roundRect">
            <a:avLst>
              <a:gd name="adj" fmla="val 50000"/>
            </a:avLst>
          </a:prstGeom>
          <a:solidFill>
            <a:srgbClr val="FFFFFF">
              <a:alpha val="16000"/>
            </a:srgbClr>
          </a:solidFill>
          <a:ln w="9525">
            <a:solidFill>
              <a:srgbClr val="FFFFFF">
                <a:alpha val="30000"/>
              </a:srgbClr>
            </a:solidFill>
            <a:prstDash val="solid"/>
          </a:ln>
        </p:spPr>
      </p:sp>
      <p:sp>
        <p:nvSpPr>
          <p:cNvPr id="6" name="Text 3"/>
          <p:cNvSpPr/>
          <p:nvPr/>
        </p:nvSpPr>
        <p:spPr>
          <a:xfrm>
            <a:off x="1476375" y="2432447"/>
            <a:ext cx="3606095" cy="304800"/>
          </a:xfrm>
          <a:prstGeom prst="rect">
            <a:avLst/>
          </a:prstGeom>
          <a:noFill/>
          <a:ln/>
        </p:spPr>
        <p:txBody>
          <a:bodyPr wrap="square" lIns="25400" tIns="25400" rIns="25400" bIns="25400" rtlCol="0" anchor="ctr">
            <a:normAutofit/>
          </a:bodyPr>
          <a:lstStyle/>
          <a:p>
            <a:pPr algn="l" indent="0" marL="0">
              <a:buNone/>
            </a:pPr>
            <a:r>
              <a:rPr lang="en-US" sz="1650" spc="-33" kern="0" dirty="0">
                <a:solidFill>
                  <a:srgbClr val="FFFFFF"/>
                </a:solidFill>
                <a:latin typeface="Arial" pitchFamily="34" charset="0"/>
                <a:ea typeface="Arial" pitchFamily="34" charset="-122"/>
                <a:cs typeface="Arial" pitchFamily="34" charset="-120"/>
              </a:rPr>
              <a:t>A governance agent for agentic CX</a:t>
            </a:r>
            <a:endParaRPr lang="en-US" sz="1650" dirty="0"/>
          </a:p>
        </p:txBody>
      </p:sp>
      <p:sp>
        <p:nvSpPr>
          <p:cNvPr id="7" name="Shape 4"/>
          <p:cNvSpPr/>
          <p:nvPr/>
        </p:nvSpPr>
        <p:spPr>
          <a:xfrm>
            <a:off x="5315992" y="2308622"/>
            <a:ext cx="6210449" cy="514350"/>
          </a:xfrm>
          <a:prstGeom prst="roundRect">
            <a:avLst>
              <a:gd name="adj" fmla="val 50000"/>
            </a:avLst>
          </a:prstGeom>
          <a:solidFill>
            <a:srgbClr val="FFFFFF">
              <a:alpha val="16000"/>
            </a:srgbClr>
          </a:solidFill>
          <a:ln w="9525">
            <a:solidFill>
              <a:srgbClr val="FFFFFF">
                <a:alpha val="30000"/>
              </a:srgbClr>
            </a:solidFill>
            <a:prstDash val="solid"/>
          </a:ln>
        </p:spPr>
      </p:sp>
      <p:sp>
        <p:nvSpPr>
          <p:cNvPr id="8" name="Text 5"/>
          <p:cNvSpPr/>
          <p:nvPr/>
        </p:nvSpPr>
        <p:spPr>
          <a:xfrm>
            <a:off x="5554117" y="2432447"/>
            <a:ext cx="5920512" cy="304800"/>
          </a:xfrm>
          <a:prstGeom prst="rect">
            <a:avLst/>
          </a:prstGeom>
          <a:noFill/>
          <a:ln/>
        </p:spPr>
        <p:txBody>
          <a:bodyPr wrap="square" lIns="25400" tIns="25400" rIns="25400" bIns="25400" rtlCol="0" anchor="ctr">
            <a:normAutofit/>
          </a:bodyPr>
          <a:lstStyle/>
          <a:p>
            <a:pPr algn="l" indent="0" marL="0">
              <a:buNone/>
            </a:pPr>
            <a:r>
              <a:rPr lang="en-US" sz="1650" spc="-33" kern="0" dirty="0">
                <a:solidFill>
                  <a:srgbClr val="FFFFFF"/>
                </a:solidFill>
                <a:latin typeface="Arial" pitchFamily="34" charset="0"/>
                <a:ea typeface="Arial" pitchFamily="34" charset="-122"/>
                <a:cs typeface="Arial" pitchFamily="34" charset="-120"/>
              </a:rPr>
              <a:t>Sparkathon pillar: System Stability &amp; Customer Resolution</a:t>
            </a:r>
            <a:endParaRPr lang="en-US" sz="1650" dirty="0"/>
          </a:p>
        </p:txBody>
      </p:sp>
      <p:sp>
        <p:nvSpPr>
          <p:cNvPr id="9" name="Text 6"/>
          <p:cNvSpPr/>
          <p:nvPr/>
        </p:nvSpPr>
        <p:spPr>
          <a:xfrm>
            <a:off x="1238250" y="3223188"/>
            <a:ext cx="11523646" cy="2477095"/>
          </a:xfrm>
          <a:prstGeom prst="rect">
            <a:avLst/>
          </a:prstGeom>
          <a:noFill/>
          <a:ln/>
        </p:spPr>
        <p:txBody>
          <a:bodyPr wrap="square" lIns="25400" tIns="25400" rIns="25400" bIns="25400" rtlCol="0" anchor="t">
            <a:normAutofit/>
          </a:bodyPr>
          <a:lstStyle/>
          <a:p>
            <a:pPr algn="l" indent="0" marL="0">
              <a:lnSpc>
                <a:spcPct val="84795"/>
              </a:lnSpc>
              <a:buNone/>
            </a:pPr>
            <a:r>
              <a:rPr lang="en-US" sz="9900" b="1" spc="-297" kern="0" dirty="0">
                <a:solidFill>
                  <a:srgbClr val="FFFFFF"/>
                </a:solidFill>
                <a:latin typeface="Arial" pitchFamily="34" charset="0"/>
                <a:ea typeface="Arial" pitchFamily="34" charset="-122"/>
                <a:cs typeface="Arial" pitchFamily="34" charset="-120"/>
              </a:rPr>
              <a:t>Blast Radius Governor</a:t>
            </a:r>
            <a:endParaRPr lang="en-US" sz="9900" dirty="0"/>
          </a:p>
        </p:txBody>
      </p:sp>
      <p:sp>
        <p:nvSpPr>
          <p:cNvPr id="10" name="Text 7"/>
          <p:cNvSpPr/>
          <p:nvPr/>
        </p:nvSpPr>
        <p:spPr>
          <a:xfrm>
            <a:off x="1238250" y="6026240"/>
            <a:ext cx="6220016" cy="1992511"/>
          </a:xfrm>
          <a:prstGeom prst="rect">
            <a:avLst/>
          </a:prstGeom>
          <a:noFill/>
          <a:ln/>
        </p:spPr>
        <p:txBody>
          <a:bodyPr wrap="square" lIns="25400" tIns="25400" rIns="25400" bIns="25400" rtlCol="0" anchor="t">
            <a:normAutofit/>
          </a:bodyPr>
          <a:lstStyle/>
          <a:p>
            <a:pPr algn="l" indent="0" marL="0">
              <a:lnSpc>
                <a:spcPct val="119302"/>
              </a:lnSpc>
              <a:buNone/>
            </a:pPr>
            <a:r>
              <a:rPr lang="en-US" sz="2850" spc="-57" kern="0" dirty="0">
                <a:solidFill>
                  <a:srgbClr val="FFFFFF">
                    <a:alpha val="91000"/>
                  </a:srgbClr>
                </a:solidFill>
                <a:latin typeface="Arial" pitchFamily="34" charset="0"/>
                <a:ea typeface="Arial" pitchFamily="34" charset="-122"/>
                <a:cs typeface="Arial" pitchFamily="34" charset="-120"/>
              </a:rPr>
              <a:t>A governance agent for multi-agent handoffs — scoring how much of the next action rests on verified fact before it runs.</a:t>
            </a:r>
            <a:endParaRPr lang="en-US" sz="2850" dirty="0"/>
          </a:p>
        </p:txBody>
      </p:sp>
      <p:sp>
        <p:nvSpPr>
          <p:cNvPr id="11" name="Text 8"/>
          <p:cNvSpPr/>
          <p:nvPr/>
        </p:nvSpPr>
        <p:spPr>
          <a:xfrm>
            <a:off x="1238250" y="9346583"/>
            <a:ext cx="5536704" cy="285750"/>
          </a:xfrm>
          <a:prstGeom prst="rect">
            <a:avLst/>
          </a:prstGeom>
          <a:noFill/>
          <a:ln/>
        </p:spPr>
        <p:txBody>
          <a:bodyPr wrap="square" lIns="25400" tIns="25400" rIns="25400" bIns="25400" rtlCol="0" anchor="t">
            <a:normAutofit/>
          </a:bodyPr>
          <a:lstStyle/>
          <a:p>
            <a:pPr algn="l" indent="0" marL="0">
              <a:buNone/>
            </a:pPr>
            <a:r>
              <a:rPr lang="en-US" sz="1650" spc="-33" kern="0" dirty="0">
                <a:solidFill>
                  <a:srgbClr val="FFFFFF">
                    <a:alpha val="68000"/>
                  </a:srgbClr>
                </a:solidFill>
                <a:latin typeface="Arial" pitchFamily="34" charset="0"/>
                <a:ea typeface="Arial" pitchFamily="34" charset="-122"/>
                <a:cs typeface="Arial" pitchFamily="34" charset="-120"/>
              </a:rPr>
              <a:t>Working prototype · scoring engine on Mistral 7B Instruct</a:t>
            </a:r>
            <a:endParaRPr lang="en-US" sz="1650" dirty="0"/>
          </a:p>
        </p:txBody>
      </p:sp>
      <p:pic>
        <p:nvPicPr>
          <p:cNvPr id="12" name="Image 1" descr="preencoded.png">    </p:cNvPr>
          <p:cNvPicPr>
            <a:picLocks noChangeAspect="1"/>
          </p:cNvPicPr>
          <p:nvPr/>
        </p:nvPicPr>
        <p:blipFill>
          <a:blip r:embed="rId2"/>
          <a:stretch>
            <a:fillRect/>
          </a:stretch>
        </p:blipFill>
        <p:spPr>
          <a:xfrm>
            <a:off x="15811500" y="8382000"/>
            <a:ext cx="1333500" cy="133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238250" y="1679972"/>
            <a:ext cx="17392650" cy="304800"/>
          </a:xfrm>
          <a:prstGeom prst="rect">
            <a:avLst/>
          </a:prstGeom>
          <a:noFill/>
          <a:ln/>
        </p:spPr>
        <p:txBody>
          <a:bodyPr wrap="square" lIns="25400" tIns="25400" rIns="25400" bIns="25400" rtlCol="0" anchor="t">
            <a:normAutofit/>
          </a:bodyPr>
          <a:lstStyle/>
          <a:p>
            <a:pPr algn="l" indent="0" marL="0">
              <a:buNone/>
            </a:pPr>
            <a:r>
              <a:rPr lang="en-US" sz="1800" b="1" spc="36" kern="0" dirty="0">
                <a:solidFill>
                  <a:srgbClr val="3694FC"/>
                </a:solidFill>
                <a:latin typeface="Arial" pitchFamily="34" charset="0"/>
                <a:ea typeface="Arial" pitchFamily="34" charset="-122"/>
                <a:cs typeface="Arial" pitchFamily="34" charset="-120"/>
              </a:rPr>
              <a:t>The gap</a:t>
            </a:r>
            <a:endParaRPr lang="en-US" sz="1800" dirty="0"/>
          </a:p>
        </p:txBody>
      </p:sp>
      <p:sp>
        <p:nvSpPr>
          <p:cNvPr id="3" name="Text 1"/>
          <p:cNvSpPr/>
          <p:nvPr/>
        </p:nvSpPr>
        <p:spPr>
          <a:xfrm>
            <a:off x="1238250" y="2156222"/>
            <a:ext cx="9428437" cy="1450777"/>
          </a:xfrm>
          <a:prstGeom prst="rect">
            <a:avLst/>
          </a:prstGeom>
          <a:noFill/>
          <a:ln/>
        </p:spPr>
        <p:txBody>
          <a:bodyPr wrap="square" lIns="25400" tIns="25400" rIns="25400" bIns="25400" rtlCol="0" anchor="t">
            <a:normAutofit/>
          </a:bodyPr>
          <a:lstStyle/>
          <a:p>
            <a:pPr algn="l" indent="0" marL="0">
              <a:lnSpc>
                <a:spcPct val="90439"/>
              </a:lnSpc>
              <a:buNone/>
            </a:pPr>
            <a:r>
              <a:rPr lang="en-US" sz="5400" b="1" spc="-162" kern="0" dirty="0">
                <a:solidFill>
                  <a:srgbClr val="21212B"/>
                </a:solidFill>
                <a:latin typeface="Arial" pitchFamily="34" charset="0"/>
                <a:ea typeface="Arial" pitchFamily="34" charset="-122"/>
                <a:cs typeface="Arial" pitchFamily="34" charset="-120"/>
              </a:rPr>
              <a:t>NiCE names the destination, not this stop</a:t>
            </a:r>
            <a:endParaRPr lang="en-US" sz="5400" dirty="0"/>
          </a:p>
        </p:txBody>
      </p:sp>
      <p:sp>
        <p:nvSpPr>
          <p:cNvPr id="4" name="Text 2"/>
          <p:cNvSpPr/>
          <p:nvPr/>
        </p:nvSpPr>
        <p:spPr>
          <a:xfrm>
            <a:off x="1238250" y="3759564"/>
            <a:ext cx="7944255" cy="784622"/>
          </a:xfrm>
          <a:prstGeom prst="rect">
            <a:avLst/>
          </a:prstGeom>
          <a:noFill/>
          <a:ln/>
        </p:spPr>
        <p:txBody>
          <a:bodyPr wrap="square" lIns="25400" tIns="25400" rIns="25400" bIns="25400" rtlCol="0" anchor="t">
            <a:normAutofit/>
          </a:bodyPr>
          <a:lstStyle/>
          <a:p>
            <a:pPr algn="l" indent="0" marL="0">
              <a:lnSpc>
                <a:spcPct val="122500"/>
              </a:lnSpc>
              <a:buNone/>
            </a:pPr>
            <a:r>
              <a:rPr lang="en-US" sz="2100" spc="-42" kern="0" dirty="0">
                <a:solidFill>
                  <a:srgbClr val="54545F"/>
                </a:solidFill>
                <a:latin typeface="Arial" pitchFamily="34" charset="0"/>
                <a:ea typeface="Arial" pitchFamily="34" charset="-122"/>
                <a:cs typeface="Arial" pitchFamily="34" charset="-120"/>
              </a:rPr>
              <a:t>NiCE’s 2026 </a:t>
            </a:r>
            <a:pPr algn="l" indent="0" marL="0">
              <a:lnSpc>
                <a:spcPct val="122500"/>
              </a:lnSpc>
              <a:buNone/>
            </a:pPr>
            <a:r>
              <a:rPr lang="en-US" sz="2100" i="1" spc="-42" kern="0" dirty="0">
                <a:solidFill>
                  <a:srgbClr val="54545F"/>
                </a:solidFill>
                <a:latin typeface="Arial" pitchFamily="34" charset="0"/>
                <a:ea typeface="Arial" pitchFamily="34" charset="-122"/>
                <a:cs typeface="Arial" pitchFamily="34" charset="-120"/>
              </a:rPr>
              <a:t>State of Agentic AI in CX </a:t>
            </a:r>
            <a:pPr algn="l" indent="0" marL="0">
              <a:lnSpc>
                <a:spcPct val="122500"/>
              </a:lnSpc>
              <a:buNone/>
            </a:pPr>
            <a:r>
              <a:rPr lang="en-US" sz="2100" spc="-42" kern="0" dirty="0">
                <a:solidFill>
                  <a:srgbClr val="54545F"/>
                </a:solidFill>
                <a:latin typeface="Arial" pitchFamily="34" charset="0"/>
                <a:ea typeface="Arial" pitchFamily="34" charset="-122"/>
                <a:cs typeface="Arial" pitchFamily="34" charset="-120"/>
              </a:rPr>
              <a:t>describes the coming shift as a four-stage progression:</a:t>
            </a:r>
            <a:endParaRPr lang="en-US" sz="2100" dirty="0"/>
          </a:p>
        </p:txBody>
      </p:sp>
      <p:sp>
        <p:nvSpPr>
          <p:cNvPr id="5" name="Shape 3"/>
          <p:cNvSpPr/>
          <p:nvPr/>
        </p:nvSpPr>
        <p:spPr>
          <a:xfrm>
            <a:off x="1238250" y="5079692"/>
            <a:ext cx="3220492" cy="1960215"/>
          </a:xfrm>
          <a:prstGeom prst="roundRect">
            <a:avLst>
              <a:gd name="adj" fmla="val 11662"/>
            </a:avLst>
          </a:prstGeom>
          <a:solidFill>
            <a:srgbClr val="F2F0EB">
              <a:alpha val="99000"/>
            </a:srgbClr>
          </a:solidFill>
          <a:ln/>
        </p:spPr>
      </p:sp>
      <p:sp>
        <p:nvSpPr>
          <p:cNvPr id="6" name="Text 4"/>
          <p:cNvSpPr/>
          <p:nvPr/>
        </p:nvSpPr>
        <p:spPr>
          <a:xfrm>
            <a:off x="1562100" y="5422592"/>
            <a:ext cx="2830071" cy="285750"/>
          </a:xfrm>
          <a:prstGeom prst="rect">
            <a:avLst/>
          </a:prstGeom>
          <a:noFill/>
          <a:ln/>
        </p:spPr>
        <p:txBody>
          <a:bodyPr wrap="square" lIns="25400" tIns="25400" rIns="25400" bIns="25400" rtlCol="0" anchor="t">
            <a:normAutofit/>
          </a:bodyPr>
          <a:lstStyle/>
          <a:p>
            <a:pPr algn="l" indent="0" marL="0">
              <a:buNone/>
            </a:pPr>
            <a:r>
              <a:rPr lang="en-US" sz="1650" b="1" dirty="0">
                <a:solidFill>
                  <a:srgbClr val="9A9AA3">
                    <a:alpha val="99000"/>
                  </a:srgbClr>
                </a:solidFill>
                <a:latin typeface="Arial" pitchFamily="34" charset="0"/>
                <a:ea typeface="Arial" pitchFamily="34" charset="-122"/>
                <a:cs typeface="Arial" pitchFamily="34" charset="-120"/>
              </a:rPr>
              <a:t>01</a:t>
            </a:r>
            <a:endParaRPr lang="en-US" sz="1650" dirty="0"/>
          </a:p>
        </p:txBody>
      </p:sp>
      <p:sp>
        <p:nvSpPr>
          <p:cNvPr id="7" name="Text 5"/>
          <p:cNvSpPr/>
          <p:nvPr/>
        </p:nvSpPr>
        <p:spPr>
          <a:xfrm>
            <a:off x="1562100" y="5803592"/>
            <a:ext cx="2649976" cy="739080"/>
          </a:xfrm>
          <a:prstGeom prst="rect">
            <a:avLst/>
          </a:prstGeom>
          <a:noFill/>
          <a:ln/>
        </p:spPr>
        <p:txBody>
          <a:bodyPr wrap="square" lIns="25400" tIns="25400" rIns="25400" bIns="25400" rtlCol="0" anchor="t">
            <a:normAutofit/>
          </a:bodyPr>
          <a:lstStyle/>
          <a:p>
            <a:pPr algn="l" indent="0" marL="0">
              <a:lnSpc>
                <a:spcPct val="99459"/>
              </a:lnSpc>
              <a:buNone/>
            </a:pPr>
            <a:r>
              <a:rPr lang="en-US" sz="2400" spc="-48" kern="0" dirty="0">
                <a:solidFill>
                  <a:srgbClr val="21212B">
                    <a:alpha val="99000"/>
                  </a:srgbClr>
                </a:solidFill>
                <a:latin typeface="Arial" pitchFamily="34" charset="0"/>
                <a:ea typeface="Arial" pitchFamily="34" charset="-122"/>
                <a:cs typeface="Arial" pitchFamily="34" charset="-120"/>
              </a:rPr>
              <a:t>Conversational AI</a:t>
            </a:r>
            <a:endParaRPr lang="en-US" sz="2400" dirty="0"/>
          </a:p>
        </p:txBody>
      </p:sp>
      <p:sp>
        <p:nvSpPr>
          <p:cNvPr id="8" name="Text 6"/>
          <p:cNvSpPr/>
          <p:nvPr/>
        </p:nvSpPr>
        <p:spPr>
          <a:xfrm>
            <a:off x="4668292" y="5079692"/>
            <a:ext cx="419100" cy="1998315"/>
          </a:xfrm>
          <a:prstGeom prst="rect">
            <a:avLst/>
          </a:prstGeom>
          <a:noFill/>
          <a:ln/>
        </p:spPr>
        <p:txBody>
          <a:bodyPr wrap="square" lIns="25400" tIns="25400" rIns="25400" bIns="25400" rtlCol="0" anchor="ctr">
            <a:normAutofit/>
          </a:bodyPr>
          <a:lstStyle/>
          <a:p>
            <a:pPr algn="l" indent="0" marL="0">
              <a:buNone/>
            </a:pPr>
            <a:r>
              <a:rPr lang="en-US" sz="2700" dirty="0">
                <a:solidFill>
                  <a:srgbClr val="C0C0C8">
                    <a:alpha val="99000"/>
                  </a:srgbClr>
                </a:solidFill>
                <a:latin typeface="Arial" pitchFamily="34" charset="0"/>
                <a:ea typeface="Arial" pitchFamily="34" charset="-122"/>
                <a:cs typeface="Arial" pitchFamily="34" charset="-120"/>
              </a:rPr>
              <a:t>→</a:t>
            </a:r>
            <a:endParaRPr lang="en-US" sz="2700" dirty="0"/>
          </a:p>
        </p:txBody>
      </p:sp>
      <p:sp>
        <p:nvSpPr>
          <p:cNvPr id="9" name="Shape 7"/>
          <p:cNvSpPr/>
          <p:nvPr/>
        </p:nvSpPr>
        <p:spPr>
          <a:xfrm>
            <a:off x="5220742" y="5079692"/>
            <a:ext cx="3220641" cy="1960215"/>
          </a:xfrm>
          <a:prstGeom prst="roundRect">
            <a:avLst>
              <a:gd name="adj" fmla="val 11662"/>
            </a:avLst>
          </a:prstGeom>
          <a:solidFill>
            <a:srgbClr val="F2F0EB">
              <a:alpha val="99000"/>
            </a:srgbClr>
          </a:solidFill>
          <a:ln/>
        </p:spPr>
      </p:sp>
      <p:sp>
        <p:nvSpPr>
          <p:cNvPr id="10" name="Text 8"/>
          <p:cNvSpPr/>
          <p:nvPr/>
        </p:nvSpPr>
        <p:spPr>
          <a:xfrm>
            <a:off x="5544592" y="5422592"/>
            <a:ext cx="2830235" cy="285750"/>
          </a:xfrm>
          <a:prstGeom prst="rect">
            <a:avLst/>
          </a:prstGeom>
          <a:noFill/>
          <a:ln/>
        </p:spPr>
        <p:txBody>
          <a:bodyPr wrap="square" lIns="25400" tIns="25400" rIns="25400" bIns="25400" rtlCol="0" anchor="t">
            <a:normAutofit/>
          </a:bodyPr>
          <a:lstStyle/>
          <a:p>
            <a:pPr algn="l" indent="0" marL="0">
              <a:buNone/>
            </a:pPr>
            <a:r>
              <a:rPr lang="en-US" sz="1650" b="1" dirty="0">
                <a:solidFill>
                  <a:srgbClr val="9A9AA3">
                    <a:alpha val="99000"/>
                  </a:srgbClr>
                </a:solidFill>
                <a:latin typeface="Arial" pitchFamily="34" charset="0"/>
                <a:ea typeface="Arial" pitchFamily="34" charset="-122"/>
                <a:cs typeface="Arial" pitchFamily="34" charset="-120"/>
              </a:rPr>
              <a:t>02</a:t>
            </a:r>
            <a:endParaRPr lang="en-US" sz="1650" dirty="0"/>
          </a:p>
        </p:txBody>
      </p:sp>
      <p:sp>
        <p:nvSpPr>
          <p:cNvPr id="11" name="Text 9"/>
          <p:cNvSpPr/>
          <p:nvPr/>
        </p:nvSpPr>
        <p:spPr>
          <a:xfrm>
            <a:off x="5544592" y="5803592"/>
            <a:ext cx="2830235" cy="388590"/>
          </a:xfrm>
          <a:prstGeom prst="rect">
            <a:avLst/>
          </a:prstGeom>
          <a:noFill/>
          <a:ln/>
        </p:spPr>
        <p:txBody>
          <a:bodyPr wrap="square" lIns="25400" tIns="25400" rIns="25400" bIns="25400" rtlCol="0" anchor="t">
            <a:normAutofit/>
          </a:bodyPr>
          <a:lstStyle/>
          <a:p>
            <a:pPr algn="l" indent="0" marL="0">
              <a:lnSpc>
                <a:spcPct val="99459"/>
              </a:lnSpc>
              <a:buNone/>
            </a:pPr>
            <a:r>
              <a:rPr lang="en-US" sz="2400" spc="-48" kern="0" dirty="0">
                <a:solidFill>
                  <a:srgbClr val="21212B">
                    <a:alpha val="99000"/>
                  </a:srgbClr>
                </a:solidFill>
                <a:latin typeface="Arial" pitchFamily="34" charset="0"/>
                <a:ea typeface="Arial" pitchFamily="34" charset="-122"/>
                <a:cs typeface="Arial" pitchFamily="34" charset="-120"/>
              </a:rPr>
              <a:t>Reasoning agents</a:t>
            </a:r>
            <a:endParaRPr lang="en-US" sz="2400" dirty="0"/>
          </a:p>
        </p:txBody>
      </p:sp>
      <p:sp>
        <p:nvSpPr>
          <p:cNvPr id="12" name="Text 10"/>
          <p:cNvSpPr/>
          <p:nvPr/>
        </p:nvSpPr>
        <p:spPr>
          <a:xfrm>
            <a:off x="8650932" y="5079692"/>
            <a:ext cx="419100" cy="1998315"/>
          </a:xfrm>
          <a:prstGeom prst="rect">
            <a:avLst/>
          </a:prstGeom>
          <a:noFill/>
          <a:ln/>
        </p:spPr>
        <p:txBody>
          <a:bodyPr wrap="square" lIns="25400" tIns="25400" rIns="25400" bIns="25400" rtlCol="0" anchor="ctr">
            <a:normAutofit/>
          </a:bodyPr>
          <a:lstStyle/>
          <a:p>
            <a:pPr algn="l" indent="0" marL="0">
              <a:buNone/>
            </a:pPr>
            <a:r>
              <a:rPr lang="en-US" sz="2700" dirty="0">
                <a:solidFill>
                  <a:srgbClr val="C0C0C8">
                    <a:alpha val="99000"/>
                  </a:srgbClr>
                </a:solidFill>
                <a:latin typeface="Arial" pitchFamily="34" charset="0"/>
                <a:ea typeface="Arial" pitchFamily="34" charset="-122"/>
                <a:cs typeface="Arial" pitchFamily="34" charset="-120"/>
              </a:rPr>
              <a:t>→</a:t>
            </a:r>
            <a:endParaRPr lang="en-US" sz="2700" dirty="0"/>
          </a:p>
        </p:txBody>
      </p:sp>
      <p:sp>
        <p:nvSpPr>
          <p:cNvPr id="13" name="Shape 11"/>
          <p:cNvSpPr/>
          <p:nvPr/>
        </p:nvSpPr>
        <p:spPr>
          <a:xfrm>
            <a:off x="9203382" y="5079692"/>
            <a:ext cx="3220641" cy="1960215"/>
          </a:xfrm>
          <a:prstGeom prst="roundRect">
            <a:avLst>
              <a:gd name="adj" fmla="val 11662"/>
            </a:avLst>
          </a:prstGeom>
          <a:solidFill>
            <a:srgbClr val="F2F0EB">
              <a:alpha val="99000"/>
            </a:srgbClr>
          </a:solidFill>
          <a:ln/>
        </p:spPr>
      </p:sp>
      <p:sp>
        <p:nvSpPr>
          <p:cNvPr id="14" name="Text 12"/>
          <p:cNvSpPr/>
          <p:nvPr/>
        </p:nvSpPr>
        <p:spPr>
          <a:xfrm>
            <a:off x="9527232" y="5422592"/>
            <a:ext cx="2830235" cy="285750"/>
          </a:xfrm>
          <a:prstGeom prst="rect">
            <a:avLst/>
          </a:prstGeom>
          <a:noFill/>
          <a:ln/>
        </p:spPr>
        <p:txBody>
          <a:bodyPr wrap="square" lIns="25400" tIns="25400" rIns="25400" bIns="25400" rtlCol="0" anchor="t">
            <a:normAutofit/>
          </a:bodyPr>
          <a:lstStyle/>
          <a:p>
            <a:pPr algn="l" indent="0" marL="0">
              <a:buNone/>
            </a:pPr>
            <a:r>
              <a:rPr lang="en-US" sz="1650" b="1" dirty="0">
                <a:solidFill>
                  <a:srgbClr val="9A9AA3">
                    <a:alpha val="99000"/>
                  </a:srgbClr>
                </a:solidFill>
                <a:latin typeface="Arial" pitchFamily="34" charset="0"/>
                <a:ea typeface="Arial" pitchFamily="34" charset="-122"/>
                <a:cs typeface="Arial" pitchFamily="34" charset="-120"/>
              </a:rPr>
              <a:t>03</a:t>
            </a:r>
            <a:endParaRPr lang="en-US" sz="1650" dirty="0"/>
          </a:p>
        </p:txBody>
      </p:sp>
      <p:sp>
        <p:nvSpPr>
          <p:cNvPr id="15" name="Text 13"/>
          <p:cNvSpPr/>
          <p:nvPr/>
        </p:nvSpPr>
        <p:spPr>
          <a:xfrm>
            <a:off x="9527232" y="5803592"/>
            <a:ext cx="2650129" cy="739080"/>
          </a:xfrm>
          <a:prstGeom prst="rect">
            <a:avLst/>
          </a:prstGeom>
          <a:noFill/>
          <a:ln/>
        </p:spPr>
        <p:txBody>
          <a:bodyPr wrap="square" lIns="25400" tIns="25400" rIns="25400" bIns="25400" rtlCol="0" anchor="t">
            <a:normAutofit/>
          </a:bodyPr>
          <a:lstStyle/>
          <a:p>
            <a:pPr algn="l" indent="0" marL="0">
              <a:lnSpc>
                <a:spcPct val="99459"/>
              </a:lnSpc>
              <a:buNone/>
            </a:pPr>
            <a:r>
              <a:rPr lang="en-US" sz="2400" spc="-48" kern="0" dirty="0">
                <a:solidFill>
                  <a:srgbClr val="21212B">
                    <a:alpha val="99000"/>
                  </a:srgbClr>
                </a:solidFill>
                <a:latin typeface="Arial" pitchFamily="34" charset="0"/>
                <a:ea typeface="Arial" pitchFamily="34" charset="-122"/>
                <a:cs typeface="Arial" pitchFamily="34" charset="-120"/>
              </a:rPr>
              <a:t>Orchestration agents</a:t>
            </a:r>
            <a:endParaRPr lang="en-US" sz="2400" dirty="0"/>
          </a:p>
        </p:txBody>
      </p:sp>
      <p:sp>
        <p:nvSpPr>
          <p:cNvPr id="16" name="Text 14"/>
          <p:cNvSpPr/>
          <p:nvPr/>
        </p:nvSpPr>
        <p:spPr>
          <a:xfrm>
            <a:off x="12633573" y="5079692"/>
            <a:ext cx="419100" cy="1998315"/>
          </a:xfrm>
          <a:prstGeom prst="rect">
            <a:avLst/>
          </a:prstGeom>
          <a:noFill/>
          <a:ln/>
        </p:spPr>
        <p:txBody>
          <a:bodyPr wrap="square" lIns="25400" tIns="25400" rIns="25400" bIns="25400" rtlCol="0" anchor="ctr">
            <a:normAutofit/>
          </a:bodyPr>
          <a:lstStyle/>
          <a:p>
            <a:pPr algn="l" indent="0" marL="0">
              <a:buNone/>
            </a:pPr>
            <a:r>
              <a:rPr lang="en-US" sz="2700" dirty="0">
                <a:solidFill>
                  <a:srgbClr val="3694FC">
                    <a:alpha val="99000"/>
                  </a:srgbClr>
                </a:solidFill>
                <a:latin typeface="Arial" pitchFamily="34" charset="0"/>
                <a:ea typeface="Arial" pitchFamily="34" charset="-122"/>
                <a:cs typeface="Arial" pitchFamily="34" charset="-120"/>
              </a:rPr>
              <a:t>→</a:t>
            </a:r>
            <a:endParaRPr lang="en-US" sz="2700" dirty="0"/>
          </a:p>
        </p:txBody>
      </p:sp>
      <p:sp>
        <p:nvSpPr>
          <p:cNvPr id="17" name="Shape 15"/>
          <p:cNvSpPr/>
          <p:nvPr/>
        </p:nvSpPr>
        <p:spPr>
          <a:xfrm>
            <a:off x="13186023" y="5079692"/>
            <a:ext cx="3863727" cy="1960215"/>
          </a:xfrm>
          <a:prstGeom prst="roundRect">
            <a:avLst>
              <a:gd name="adj" fmla="val 11662"/>
            </a:avLst>
          </a:prstGeom>
          <a:gradFill rotWithShape="1">
            <a:gsLst>
              <a:gs pos="0">
                <a:srgbClr val="025AFB">
                  <a:alpha val="99000"/>
                </a:srgbClr>
              </a:gs>
              <a:gs pos="38000">
                <a:srgbClr val="3694FC">
                  <a:alpha val="99000"/>
                </a:srgbClr>
              </a:gs>
              <a:gs pos="100000">
                <a:srgbClr val="6100FF">
                  <a:alpha val="99000"/>
                </a:srgbClr>
              </a:gs>
            </a:gsLst>
            <a:lin ang="19080000" scaled="0"/>
          </a:gradFill>
          <a:ln/>
          <a:effectLst>
            <a:outerShdw sx="100000" sy="100000" kx="0" ky="0" algn="bl" rotWithShape="0" blurRad="228600" dist="76200" dir="5400000">
              <a:srgbClr val="21212B">
                <a:alpha val="7927"/>
              </a:srgbClr>
            </a:outerShdw>
          </a:effectLst>
        </p:spPr>
      </p:sp>
      <p:sp>
        <p:nvSpPr>
          <p:cNvPr id="18" name="Text 16"/>
          <p:cNvSpPr/>
          <p:nvPr/>
        </p:nvSpPr>
        <p:spPr>
          <a:xfrm>
            <a:off x="13509873" y="5422592"/>
            <a:ext cx="3537630" cy="285750"/>
          </a:xfrm>
          <a:prstGeom prst="rect">
            <a:avLst/>
          </a:prstGeom>
          <a:noFill/>
          <a:ln/>
        </p:spPr>
        <p:txBody>
          <a:bodyPr wrap="square" lIns="25400" tIns="25400" rIns="25400" bIns="25400" rtlCol="0" anchor="t">
            <a:normAutofit/>
          </a:bodyPr>
          <a:lstStyle/>
          <a:p>
            <a:pPr algn="l" indent="0" marL="0">
              <a:buNone/>
            </a:pPr>
            <a:r>
              <a:rPr lang="en-US" sz="1650" b="1" dirty="0">
                <a:solidFill>
                  <a:srgbClr val="FFFFFF">
                    <a:alpha val="74000"/>
                  </a:srgbClr>
                </a:solidFill>
                <a:latin typeface="Arial" pitchFamily="34" charset="0"/>
                <a:ea typeface="Arial" pitchFamily="34" charset="-122"/>
                <a:cs typeface="Arial" pitchFamily="34" charset="-120"/>
              </a:rPr>
              <a:t>04</a:t>
            </a:r>
            <a:endParaRPr lang="en-US" sz="1650" dirty="0"/>
          </a:p>
        </p:txBody>
      </p:sp>
      <p:sp>
        <p:nvSpPr>
          <p:cNvPr id="19" name="Text 17"/>
          <p:cNvSpPr/>
          <p:nvPr/>
        </p:nvSpPr>
        <p:spPr>
          <a:xfrm>
            <a:off x="13509873" y="5803592"/>
            <a:ext cx="3537630" cy="388590"/>
          </a:xfrm>
          <a:prstGeom prst="rect">
            <a:avLst/>
          </a:prstGeom>
          <a:noFill/>
          <a:ln/>
        </p:spPr>
        <p:txBody>
          <a:bodyPr wrap="square" lIns="25400" tIns="25400" rIns="25400" bIns="25400" rtlCol="0" anchor="t">
            <a:normAutofit/>
          </a:bodyPr>
          <a:lstStyle/>
          <a:p>
            <a:pPr algn="l" indent="0" marL="0">
              <a:lnSpc>
                <a:spcPct val="99459"/>
              </a:lnSpc>
              <a:buNone/>
            </a:pPr>
            <a:r>
              <a:rPr lang="en-US" sz="2400" b="1" spc="-48" kern="0" dirty="0">
                <a:solidFill>
                  <a:srgbClr val="FFFFFF">
                    <a:alpha val="99000"/>
                  </a:srgbClr>
                </a:solidFill>
                <a:latin typeface="Arial" pitchFamily="34" charset="0"/>
                <a:ea typeface="Arial" pitchFamily="34" charset="-122"/>
                <a:cs typeface="Arial" pitchFamily="34" charset="-120"/>
              </a:rPr>
              <a:t>Governance agents</a:t>
            </a:r>
            <a:endParaRPr lang="en-US" sz="2400" dirty="0"/>
          </a:p>
        </p:txBody>
      </p:sp>
      <p:sp>
        <p:nvSpPr>
          <p:cNvPr id="20" name="Shape 18"/>
          <p:cNvSpPr/>
          <p:nvPr/>
        </p:nvSpPr>
        <p:spPr>
          <a:xfrm>
            <a:off x="13509873" y="6325532"/>
            <a:ext cx="2294632" cy="371475"/>
          </a:xfrm>
          <a:prstGeom prst="roundRect">
            <a:avLst>
              <a:gd name="adj" fmla="val 50000"/>
            </a:avLst>
          </a:prstGeom>
          <a:solidFill>
            <a:srgbClr val="FFFFFF">
              <a:alpha val="22000"/>
            </a:srgbClr>
          </a:solidFill>
          <a:ln/>
        </p:spPr>
      </p:sp>
      <p:sp>
        <p:nvSpPr>
          <p:cNvPr id="21" name="Text 19"/>
          <p:cNvSpPr/>
          <p:nvPr/>
        </p:nvSpPr>
        <p:spPr>
          <a:xfrm>
            <a:off x="13662273" y="6392207"/>
            <a:ext cx="2066032" cy="276225"/>
          </a:xfrm>
          <a:prstGeom prst="rect">
            <a:avLst/>
          </a:prstGeom>
          <a:noFill/>
          <a:ln/>
        </p:spPr>
        <p:txBody>
          <a:bodyPr wrap="square" lIns="25400" tIns="25400" rIns="25400" bIns="25400" rtlCol="0" anchor="t">
            <a:normAutofit/>
          </a:bodyPr>
          <a:lstStyle/>
          <a:p>
            <a:pPr algn="l" indent="0" marL="0">
              <a:buNone/>
            </a:pPr>
            <a:r>
              <a:rPr lang="en-US" sz="1500" spc="-15" kern="0" dirty="0">
                <a:solidFill>
                  <a:srgbClr val="FFFFFF">
                    <a:alpha val="99000"/>
                  </a:srgbClr>
                </a:solidFill>
                <a:latin typeface="Arial" pitchFamily="34" charset="0"/>
                <a:ea typeface="Arial" pitchFamily="34" charset="-122"/>
                <a:cs typeface="Arial" pitchFamily="34" charset="-120"/>
              </a:rPr>
              <a:t>named, never defined</a:t>
            </a:r>
            <a:endParaRPr lang="en-US" sz="1500" dirty="0"/>
          </a:p>
        </p:txBody>
      </p:sp>
      <p:sp>
        <p:nvSpPr>
          <p:cNvPr id="22" name="Text 20"/>
          <p:cNvSpPr/>
          <p:nvPr/>
        </p:nvSpPr>
        <p:spPr>
          <a:xfrm>
            <a:off x="1238250" y="7583115"/>
            <a:ext cx="9002743" cy="1073944"/>
          </a:xfrm>
          <a:prstGeom prst="rect">
            <a:avLst/>
          </a:prstGeom>
          <a:noFill/>
          <a:ln/>
        </p:spPr>
        <p:txBody>
          <a:bodyPr wrap="square" lIns="25400" tIns="25400" rIns="25400" bIns="25400" rtlCol="0" anchor="t">
            <a:normAutofit/>
          </a:bodyPr>
          <a:lstStyle/>
          <a:p>
            <a:pPr algn="l" indent="0" marL="0">
              <a:lnSpc>
                <a:spcPct val="125000"/>
              </a:lnSpc>
              <a:buNone/>
            </a:pPr>
            <a:r>
              <a:rPr lang="en-US" sz="1875" spc="-37" kern="0" dirty="0">
                <a:solidFill>
                  <a:srgbClr val="54545F">
                    <a:alpha val="95000"/>
                  </a:srgbClr>
                </a:solidFill>
                <a:latin typeface="Arial" pitchFamily="34" charset="0"/>
                <a:ea typeface="Arial" pitchFamily="34" charset="-122"/>
                <a:cs typeface="Arial" pitchFamily="34" charset="-120"/>
              </a:rPr>
              <a:t>The outlook’s governance section stops at static policy thresholds — “confidence thresholds,” “sensitive scenarios” — with no mechanism behind either. What a governance agent actually </a:t>
            </a:r>
            <a:pPr algn="l" indent="0" marL="0">
              <a:lnSpc>
                <a:spcPct val="125000"/>
              </a:lnSpc>
              <a:buNone/>
            </a:pPr>
            <a:r>
              <a:rPr lang="en-US" sz="1875" i="1" spc="-37" kern="0" dirty="0">
                <a:solidFill>
                  <a:srgbClr val="54545F">
                    <a:alpha val="95000"/>
                  </a:srgbClr>
                </a:solidFill>
                <a:latin typeface="Arial" pitchFamily="34" charset="0"/>
                <a:ea typeface="Arial" pitchFamily="34" charset="-122"/>
                <a:cs typeface="Arial" pitchFamily="34" charset="-120"/>
              </a:rPr>
              <a:t>does </a:t>
            </a:r>
            <a:pPr algn="l" indent="0" marL="0">
              <a:lnSpc>
                <a:spcPct val="125000"/>
              </a:lnSpc>
              <a:buNone/>
            </a:pPr>
            <a:r>
              <a:rPr lang="en-US" sz="1875" spc="-37" kern="0" dirty="0">
                <a:solidFill>
                  <a:srgbClr val="54545F">
                    <a:alpha val="95000"/>
                  </a:srgbClr>
                </a:solidFill>
                <a:latin typeface="Arial" pitchFamily="34" charset="0"/>
                <a:ea typeface="Arial" pitchFamily="34" charset="-122"/>
                <a:cs typeface="Arial" pitchFamily="34" charset="-120"/>
              </a:rPr>
              <a:t>is left open.</a:t>
            </a:r>
            <a:endParaRPr lang="en-US" sz="18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12B"/>
        </a:solidFill>
      </p:bgPr>
    </p:bg>
    <p:spTree>
      <p:nvGrpSpPr>
        <p:cNvPr id="1" name=""/>
        <p:cNvGrpSpPr/>
        <p:nvPr/>
      </p:nvGrpSpPr>
      <p:grpSpPr>
        <a:xfrm>
          <a:off x="0" y="0"/>
          <a:ext cx="0" cy="0"/>
          <a:chOff x="0" y="0"/>
          <a:chExt cx="0" cy="0"/>
        </a:xfrm>
      </p:grpSpPr>
      <p:sp>
        <p:nvSpPr>
          <p:cNvPr id="2" name="Text 0"/>
          <p:cNvSpPr/>
          <p:nvPr/>
        </p:nvSpPr>
        <p:spPr>
          <a:xfrm>
            <a:off x="1238250" y="1690390"/>
            <a:ext cx="17392650" cy="304800"/>
          </a:xfrm>
          <a:prstGeom prst="rect">
            <a:avLst/>
          </a:prstGeom>
          <a:noFill/>
          <a:ln/>
        </p:spPr>
        <p:txBody>
          <a:bodyPr wrap="square" lIns="25400" tIns="25400" rIns="25400" bIns="25400" rtlCol="0" anchor="t">
            <a:normAutofit/>
          </a:bodyPr>
          <a:lstStyle/>
          <a:p>
            <a:pPr algn="l" indent="0" marL="0">
              <a:buNone/>
            </a:pPr>
            <a:r>
              <a:rPr lang="en-US" sz="1800" b="1" spc="36" kern="0" dirty="0">
                <a:solidFill>
                  <a:srgbClr val="3694FC"/>
                </a:solidFill>
                <a:latin typeface="Arial" pitchFamily="34" charset="0"/>
                <a:ea typeface="Arial" pitchFamily="34" charset="-122"/>
                <a:cs typeface="Arial" pitchFamily="34" charset="-120"/>
              </a:rPr>
              <a:t>The real risk</a:t>
            </a:r>
            <a:endParaRPr lang="en-US" sz="1800" dirty="0"/>
          </a:p>
        </p:txBody>
      </p:sp>
      <p:sp>
        <p:nvSpPr>
          <p:cNvPr id="3" name="Text 1"/>
          <p:cNvSpPr/>
          <p:nvPr/>
        </p:nvSpPr>
        <p:spPr>
          <a:xfrm>
            <a:off x="1238250" y="2166640"/>
            <a:ext cx="9930319" cy="1411486"/>
          </a:xfrm>
          <a:prstGeom prst="rect">
            <a:avLst/>
          </a:prstGeom>
          <a:noFill/>
          <a:ln/>
        </p:spPr>
        <p:txBody>
          <a:bodyPr wrap="square" lIns="25400" tIns="25400" rIns="25400" bIns="25400" rtlCol="0" anchor="t">
            <a:normAutofit/>
          </a:bodyPr>
          <a:lstStyle/>
          <a:p>
            <a:pPr algn="l" indent="0" marL="0">
              <a:lnSpc>
                <a:spcPct val="90125"/>
              </a:lnSpc>
              <a:buNone/>
            </a:pPr>
            <a:r>
              <a:rPr lang="en-US" sz="5250" b="1" spc="-158" kern="0" dirty="0">
                <a:solidFill>
                  <a:srgbClr val="FFFFFF"/>
                </a:solidFill>
                <a:latin typeface="Arial" pitchFamily="34" charset="0"/>
                <a:ea typeface="Arial" pitchFamily="34" charset="-122"/>
                <a:cs typeface="Arial" pitchFamily="34" charset="-120"/>
              </a:rPr>
              <a:t>The danger isn’t an agent. It’s the handoff.</a:t>
            </a:r>
            <a:endParaRPr lang="en-US" sz="5250" dirty="0"/>
          </a:p>
        </p:txBody>
      </p:sp>
      <p:sp>
        <p:nvSpPr>
          <p:cNvPr id="4" name="Shape 2"/>
          <p:cNvSpPr/>
          <p:nvPr/>
        </p:nvSpPr>
        <p:spPr>
          <a:xfrm>
            <a:off x="1238250" y="4187892"/>
            <a:ext cx="6810375" cy="3146822"/>
          </a:xfrm>
          <a:prstGeom prst="roundRect">
            <a:avLst>
              <a:gd name="adj" fmla="val 8475"/>
            </a:avLst>
          </a:prstGeom>
          <a:solidFill>
            <a:srgbClr val="FFFFFF">
              <a:alpha val="6000"/>
            </a:srgbClr>
          </a:solidFill>
          <a:ln w="9525">
            <a:solidFill>
              <a:srgbClr val="FFFFFF">
                <a:alpha val="14000"/>
              </a:srgbClr>
            </a:solidFill>
            <a:prstDash val="solid"/>
          </a:ln>
        </p:spPr>
      </p:sp>
      <p:sp>
        <p:nvSpPr>
          <p:cNvPr id="5" name="Shape 3"/>
          <p:cNvSpPr/>
          <p:nvPr/>
        </p:nvSpPr>
        <p:spPr>
          <a:xfrm>
            <a:off x="1685925" y="4616517"/>
            <a:ext cx="419100" cy="419100"/>
          </a:xfrm>
          <a:prstGeom prst="roundRect">
            <a:avLst>
              <a:gd name="adj" fmla="val 27273"/>
            </a:avLst>
          </a:prstGeom>
          <a:solidFill>
            <a:srgbClr val="FFFFFF">
              <a:alpha val="12000"/>
            </a:srgbClr>
          </a:solidFill>
          <a:ln/>
        </p:spPr>
      </p:sp>
      <p:sp>
        <p:nvSpPr>
          <p:cNvPr id="6" name="Text 4"/>
          <p:cNvSpPr/>
          <p:nvPr/>
        </p:nvSpPr>
        <p:spPr>
          <a:xfrm>
            <a:off x="1647825" y="4616517"/>
            <a:ext cx="49530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FFFF"/>
                </a:solidFill>
                <a:latin typeface="Arial" pitchFamily="34" charset="0"/>
                <a:ea typeface="Arial" pitchFamily="34" charset="-122"/>
                <a:cs typeface="Arial" pitchFamily="34" charset="-120"/>
              </a:rPr>
              <a:t>A</a:t>
            </a:r>
            <a:endParaRPr lang="en-US" sz="1650" dirty="0"/>
          </a:p>
        </p:txBody>
      </p:sp>
      <p:sp>
        <p:nvSpPr>
          <p:cNvPr id="7" name="Text 5"/>
          <p:cNvSpPr/>
          <p:nvPr/>
        </p:nvSpPr>
        <p:spPr>
          <a:xfrm>
            <a:off x="2238375" y="4673667"/>
            <a:ext cx="2005132" cy="342900"/>
          </a:xfrm>
          <a:prstGeom prst="rect">
            <a:avLst/>
          </a:prstGeom>
          <a:noFill/>
          <a:ln/>
        </p:spPr>
        <p:txBody>
          <a:bodyPr wrap="square" lIns="25400" tIns="25400" rIns="25400" bIns="25400" rtlCol="0" anchor="t">
            <a:normAutofit/>
          </a:bodyPr>
          <a:lstStyle/>
          <a:p>
            <a:pPr algn="l" indent="0" marL="0">
              <a:buNone/>
            </a:pPr>
            <a:r>
              <a:rPr lang="en-US" sz="2100" b="1" spc="-42" kern="0" dirty="0">
                <a:solidFill>
                  <a:srgbClr val="FFFFFF"/>
                </a:solidFill>
                <a:latin typeface="Arial" pitchFamily="34" charset="0"/>
                <a:ea typeface="Arial" pitchFamily="34" charset="-122"/>
                <a:cs typeface="Arial" pitchFamily="34" charset="-120"/>
              </a:rPr>
              <a:t>Upstream agent</a:t>
            </a:r>
            <a:endParaRPr lang="en-US" sz="2100" dirty="0"/>
          </a:p>
        </p:txBody>
      </p:sp>
      <p:sp>
        <p:nvSpPr>
          <p:cNvPr id="8" name="Text 6"/>
          <p:cNvSpPr/>
          <p:nvPr/>
        </p:nvSpPr>
        <p:spPr>
          <a:xfrm>
            <a:off x="1685925" y="5207067"/>
            <a:ext cx="6506528" cy="304800"/>
          </a:xfrm>
          <a:prstGeom prst="rect">
            <a:avLst/>
          </a:prstGeom>
          <a:noFill/>
          <a:ln/>
        </p:spPr>
        <p:txBody>
          <a:bodyPr wrap="square" lIns="25400" tIns="25400" rIns="25400" bIns="25400" rtlCol="0" anchor="t">
            <a:normAutofit/>
          </a:bodyPr>
          <a:lstStyle/>
          <a:p>
            <a:pPr algn="l" indent="0" marL="0">
              <a:buNone/>
            </a:pPr>
            <a:r>
              <a:rPr lang="en-US" sz="1650" spc="50" kern="0" dirty="0">
                <a:solidFill>
                  <a:srgbClr val="FFFFFF">
                    <a:alpha val="50000"/>
                  </a:srgbClr>
                </a:solidFill>
                <a:latin typeface="Arial" pitchFamily="34" charset="0"/>
                <a:ea typeface="Arial" pitchFamily="34" charset="-122"/>
                <a:cs typeface="Arial" pitchFamily="34" charset="-120"/>
              </a:rPr>
              <a:t>INFERS</a:t>
            </a:r>
            <a:endParaRPr lang="en-US" sz="1650" dirty="0"/>
          </a:p>
        </p:txBody>
      </p:sp>
      <p:sp>
        <p:nvSpPr>
          <p:cNvPr id="9" name="Text 7"/>
          <p:cNvSpPr/>
          <p:nvPr/>
        </p:nvSpPr>
        <p:spPr>
          <a:xfrm>
            <a:off x="1685925" y="5645217"/>
            <a:ext cx="6092476" cy="860822"/>
          </a:xfrm>
          <a:prstGeom prst="rect">
            <a:avLst/>
          </a:prstGeom>
          <a:noFill/>
          <a:ln/>
        </p:spPr>
        <p:txBody>
          <a:bodyPr wrap="square" lIns="25400" tIns="25400" rIns="25400" bIns="25400" rtlCol="0" anchor="t">
            <a:normAutofit/>
          </a:bodyPr>
          <a:lstStyle/>
          <a:p>
            <a:pPr algn="l" indent="0" marL="0">
              <a:lnSpc>
                <a:spcPct val="116757"/>
              </a:lnSpc>
              <a:buNone/>
            </a:pPr>
            <a:r>
              <a:rPr lang="en-US" sz="2400" spc="-48" kern="0" dirty="0">
                <a:solidFill>
                  <a:srgbClr val="FFFFFF">
                    <a:alpha val="92000"/>
                  </a:srgbClr>
                </a:solidFill>
                <a:latin typeface="Arial" pitchFamily="34" charset="0"/>
                <a:ea typeface="Arial" pitchFamily="34" charset="-122"/>
                <a:cs typeface="Arial" pitchFamily="34" charset="-120"/>
              </a:rPr>
              <a:t>“This complaint pattern suggests high churn risk.”</a:t>
            </a:r>
            <a:endParaRPr lang="en-US" sz="2400" dirty="0"/>
          </a:p>
        </p:txBody>
      </p:sp>
      <p:sp>
        <p:nvSpPr>
          <p:cNvPr id="10" name="Text 8"/>
          <p:cNvSpPr/>
          <p:nvPr/>
        </p:nvSpPr>
        <p:spPr>
          <a:xfrm>
            <a:off x="1685925" y="6639389"/>
            <a:ext cx="6506528" cy="304800"/>
          </a:xfrm>
          <a:prstGeom prst="rect">
            <a:avLst/>
          </a:prstGeom>
          <a:noFill/>
          <a:ln/>
        </p:spPr>
        <p:txBody>
          <a:bodyPr wrap="square" lIns="25400" tIns="25400" rIns="25400" bIns="25400" rtlCol="0" anchor="t">
            <a:normAutofit/>
          </a:bodyPr>
          <a:lstStyle/>
          <a:p>
            <a:pPr algn="l" indent="0" marL="0">
              <a:buNone/>
            </a:pPr>
            <a:r>
              <a:rPr lang="en-US" sz="1650" dirty="0">
                <a:solidFill>
                  <a:srgbClr val="FF8FAB"/>
                </a:solidFill>
                <a:latin typeface="Arial" pitchFamily="34" charset="0"/>
                <a:ea typeface="Arial" pitchFamily="34" charset="-122"/>
                <a:cs typeface="Arial" pitchFamily="34" charset="-120"/>
              </a:rPr>
              <a:t>A probabilistic judgment — not a verified fact</a:t>
            </a:r>
            <a:endParaRPr lang="en-US" sz="1650" dirty="0"/>
          </a:p>
        </p:txBody>
      </p:sp>
      <p:sp>
        <p:nvSpPr>
          <p:cNvPr id="11" name="Shape 9"/>
          <p:cNvSpPr/>
          <p:nvPr/>
        </p:nvSpPr>
        <p:spPr>
          <a:xfrm>
            <a:off x="8048625" y="5761303"/>
            <a:ext cx="2190750" cy="19050"/>
          </a:xfrm>
          <a:prstGeom prst="rect">
            <a:avLst/>
          </a:prstGeom>
          <a:solidFill>
            <a:srgbClr val="FFFFFF">
              <a:alpha val="18000"/>
            </a:srgbClr>
          </a:solidFill>
          <a:ln/>
        </p:spPr>
      </p:sp>
      <p:sp>
        <p:nvSpPr>
          <p:cNvPr id="12" name="Shape 10"/>
          <p:cNvSpPr/>
          <p:nvPr/>
        </p:nvSpPr>
        <p:spPr>
          <a:xfrm>
            <a:off x="8552408" y="4999303"/>
            <a:ext cx="1183184" cy="495300"/>
          </a:xfrm>
          <a:prstGeom prst="roundRect">
            <a:avLst>
              <a:gd name="adj" fmla="val 50000"/>
            </a:avLst>
          </a:prstGeom>
          <a:solidFill>
            <a:srgbClr val="21212B"/>
          </a:solidFill>
          <a:ln w="19050">
            <a:solidFill>
              <a:srgbClr val="FF5B8A"/>
            </a:solidFill>
            <a:prstDash val="solid"/>
          </a:ln>
        </p:spPr>
      </p:sp>
      <p:sp>
        <p:nvSpPr>
          <p:cNvPr id="13" name="Text 11"/>
          <p:cNvSpPr/>
          <p:nvPr/>
        </p:nvSpPr>
        <p:spPr>
          <a:xfrm>
            <a:off x="8819108" y="5132653"/>
            <a:ext cx="725984" cy="266700"/>
          </a:xfrm>
          <a:prstGeom prst="rect">
            <a:avLst/>
          </a:prstGeom>
          <a:noFill/>
          <a:ln/>
        </p:spPr>
        <p:txBody>
          <a:bodyPr wrap="none" lIns="25400" tIns="25400" rIns="25400" bIns="25400" rtlCol="0" anchor="t">
            <a:normAutofit/>
          </a:bodyPr>
          <a:lstStyle/>
          <a:p>
            <a:pPr algn="l" indent="0" marL="0">
              <a:buNone/>
            </a:pPr>
            <a:r>
              <a:rPr lang="en-US" sz="1575" b="1" spc="-16" kern="0" dirty="0">
                <a:solidFill>
                  <a:srgbClr val="FF8FAB"/>
                </a:solidFill>
                <a:latin typeface="Arial" pitchFamily="34" charset="0"/>
                <a:ea typeface="Arial" pitchFamily="34" charset="-122"/>
                <a:cs typeface="Arial" pitchFamily="34" charset="-120"/>
              </a:rPr>
              <a:t>handoff</a:t>
            </a:r>
            <a:endParaRPr lang="en-US" sz="1575" dirty="0"/>
          </a:p>
        </p:txBody>
      </p:sp>
      <p:sp>
        <p:nvSpPr>
          <p:cNvPr id="14" name="Shape 12"/>
          <p:cNvSpPr/>
          <p:nvPr/>
        </p:nvSpPr>
        <p:spPr>
          <a:xfrm>
            <a:off x="8237041" y="5627953"/>
            <a:ext cx="1813768" cy="895350"/>
          </a:xfrm>
          <a:prstGeom prst="rect">
            <a:avLst/>
          </a:prstGeom>
          <a:solidFill>
            <a:srgbClr val="21212B"/>
          </a:solidFill>
          <a:ln/>
        </p:spPr>
      </p:sp>
      <p:sp>
        <p:nvSpPr>
          <p:cNvPr id="15" name="Text 13"/>
          <p:cNvSpPr/>
          <p:nvPr/>
        </p:nvSpPr>
        <p:spPr>
          <a:xfrm>
            <a:off x="8198941" y="5704153"/>
            <a:ext cx="1889968" cy="781050"/>
          </a:xfrm>
          <a:prstGeom prst="rect">
            <a:avLst/>
          </a:prstGeom>
          <a:noFill/>
          <a:ln/>
        </p:spPr>
        <p:txBody>
          <a:bodyPr wrap="square" lIns="25400" tIns="25400" rIns="25400" bIns="25400" rtlCol="0" anchor="t">
            <a:normAutofit/>
          </a:bodyPr>
          <a:lstStyle/>
          <a:p>
            <a:pPr algn="ctr" indent="0" marL="0">
              <a:lnSpc>
                <a:spcPct val="113043"/>
              </a:lnSpc>
              <a:buNone/>
            </a:pPr>
            <a:r>
              <a:rPr lang="en-US" sz="1500" dirty="0">
                <a:solidFill>
                  <a:srgbClr val="FFFFFF">
                    <a:alpha val="60000"/>
                  </a:srgbClr>
                </a:solidFill>
                <a:highlight>
                  <a:srgbClr val="21212B"/>
                </a:highlight>
                <a:latin typeface="Arial" pitchFamily="34" charset="0"/>
                <a:ea typeface="Arial" pitchFamily="34" charset="-122"/>
                <a:cs typeface="Arial" pitchFamily="34" charset="-120"/>
              </a:rPr>
              <a:t>inference accepted as premise — never re-checked</a:t>
            </a:r>
            <a:endParaRPr lang="en-US" sz="1500" dirty="0"/>
          </a:p>
        </p:txBody>
      </p:sp>
      <p:sp>
        <p:nvSpPr>
          <p:cNvPr id="16" name="Shape 14"/>
          <p:cNvSpPr/>
          <p:nvPr/>
        </p:nvSpPr>
        <p:spPr>
          <a:xfrm>
            <a:off x="10239375" y="4187892"/>
            <a:ext cx="6810375" cy="3146822"/>
          </a:xfrm>
          <a:prstGeom prst="roundRect">
            <a:avLst>
              <a:gd name="adj" fmla="val 8475"/>
            </a:avLst>
          </a:prstGeom>
          <a:solidFill>
            <a:srgbClr val="FFFFFF">
              <a:alpha val="6000"/>
            </a:srgbClr>
          </a:solidFill>
          <a:ln w="9525">
            <a:solidFill>
              <a:srgbClr val="FFFFFF">
                <a:alpha val="14000"/>
              </a:srgbClr>
            </a:solidFill>
            <a:prstDash val="solid"/>
          </a:ln>
        </p:spPr>
      </p:sp>
      <p:sp>
        <p:nvSpPr>
          <p:cNvPr id="17" name="Shape 15"/>
          <p:cNvSpPr/>
          <p:nvPr/>
        </p:nvSpPr>
        <p:spPr>
          <a:xfrm>
            <a:off x="10687050" y="4616517"/>
            <a:ext cx="419100" cy="419100"/>
          </a:xfrm>
          <a:prstGeom prst="roundRect">
            <a:avLst>
              <a:gd name="adj" fmla="val 27273"/>
            </a:avLst>
          </a:prstGeom>
          <a:solidFill>
            <a:srgbClr val="FFFFFF">
              <a:alpha val="12000"/>
            </a:srgbClr>
          </a:solidFill>
          <a:ln/>
        </p:spPr>
      </p:sp>
      <p:sp>
        <p:nvSpPr>
          <p:cNvPr id="18" name="Text 16"/>
          <p:cNvSpPr/>
          <p:nvPr/>
        </p:nvSpPr>
        <p:spPr>
          <a:xfrm>
            <a:off x="10648950" y="4616517"/>
            <a:ext cx="49530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FFFF"/>
                </a:solidFill>
                <a:latin typeface="Arial" pitchFamily="34" charset="0"/>
                <a:ea typeface="Arial" pitchFamily="34" charset="-122"/>
                <a:cs typeface="Arial" pitchFamily="34" charset="-120"/>
              </a:rPr>
              <a:t>B</a:t>
            </a:r>
            <a:endParaRPr lang="en-US" sz="1650" dirty="0"/>
          </a:p>
        </p:txBody>
      </p:sp>
      <p:sp>
        <p:nvSpPr>
          <p:cNvPr id="19" name="Text 17"/>
          <p:cNvSpPr/>
          <p:nvPr/>
        </p:nvSpPr>
        <p:spPr>
          <a:xfrm>
            <a:off x="11239500" y="4673667"/>
            <a:ext cx="2368406" cy="342900"/>
          </a:xfrm>
          <a:prstGeom prst="rect">
            <a:avLst/>
          </a:prstGeom>
          <a:noFill/>
          <a:ln/>
        </p:spPr>
        <p:txBody>
          <a:bodyPr wrap="square" lIns="25400" tIns="25400" rIns="25400" bIns="25400" rtlCol="0" anchor="t">
            <a:normAutofit/>
          </a:bodyPr>
          <a:lstStyle/>
          <a:p>
            <a:pPr algn="l" indent="0" marL="0">
              <a:buNone/>
            </a:pPr>
            <a:r>
              <a:rPr lang="en-US" sz="2100" b="1" spc="-42" kern="0" dirty="0">
                <a:solidFill>
                  <a:srgbClr val="FFFFFF"/>
                </a:solidFill>
                <a:latin typeface="Arial" pitchFamily="34" charset="0"/>
                <a:ea typeface="Arial" pitchFamily="34" charset="-122"/>
                <a:cs typeface="Arial" pitchFamily="34" charset="-120"/>
              </a:rPr>
              <a:t>Downstream agent</a:t>
            </a:r>
            <a:endParaRPr lang="en-US" sz="2100" dirty="0"/>
          </a:p>
        </p:txBody>
      </p:sp>
      <p:sp>
        <p:nvSpPr>
          <p:cNvPr id="20" name="Text 18"/>
          <p:cNvSpPr/>
          <p:nvPr/>
        </p:nvSpPr>
        <p:spPr>
          <a:xfrm>
            <a:off x="10687050" y="5207067"/>
            <a:ext cx="6506528" cy="304800"/>
          </a:xfrm>
          <a:prstGeom prst="rect">
            <a:avLst/>
          </a:prstGeom>
          <a:noFill/>
          <a:ln/>
        </p:spPr>
        <p:txBody>
          <a:bodyPr wrap="square" lIns="25400" tIns="25400" rIns="25400" bIns="25400" rtlCol="0" anchor="t">
            <a:normAutofit/>
          </a:bodyPr>
          <a:lstStyle/>
          <a:p>
            <a:pPr algn="l" indent="0" marL="0">
              <a:buNone/>
            </a:pPr>
            <a:r>
              <a:rPr lang="en-US" sz="1650" spc="50" kern="0" dirty="0">
                <a:solidFill>
                  <a:srgbClr val="FFFFFF">
                    <a:alpha val="50000"/>
                  </a:srgbClr>
                </a:solidFill>
                <a:latin typeface="Arial" pitchFamily="34" charset="0"/>
                <a:ea typeface="Arial" pitchFamily="34" charset="-122"/>
                <a:cs typeface="Arial" pitchFamily="34" charset="-120"/>
              </a:rPr>
              <a:t>ACTS ON IT AS FACT</a:t>
            </a:r>
            <a:endParaRPr lang="en-US" sz="1650" dirty="0"/>
          </a:p>
        </p:txBody>
      </p:sp>
      <p:sp>
        <p:nvSpPr>
          <p:cNvPr id="21" name="Text 19"/>
          <p:cNvSpPr/>
          <p:nvPr/>
        </p:nvSpPr>
        <p:spPr>
          <a:xfrm>
            <a:off x="10687050" y="5645217"/>
            <a:ext cx="6092476" cy="860822"/>
          </a:xfrm>
          <a:prstGeom prst="rect">
            <a:avLst/>
          </a:prstGeom>
          <a:noFill/>
          <a:ln/>
        </p:spPr>
        <p:txBody>
          <a:bodyPr wrap="square" lIns="25400" tIns="25400" rIns="25400" bIns="25400" rtlCol="0" anchor="t">
            <a:normAutofit/>
          </a:bodyPr>
          <a:lstStyle/>
          <a:p>
            <a:pPr algn="l" indent="0" marL="0">
              <a:lnSpc>
                <a:spcPct val="116757"/>
              </a:lnSpc>
              <a:buNone/>
            </a:pPr>
            <a:r>
              <a:rPr lang="en-US" sz="2400" spc="-48" kern="0" dirty="0">
                <a:solidFill>
                  <a:srgbClr val="FFFFFF">
                    <a:alpha val="92000"/>
                  </a:srgbClr>
                </a:solidFill>
                <a:latin typeface="Arial" pitchFamily="34" charset="0"/>
                <a:ea typeface="Arial" pitchFamily="34" charset="-122"/>
                <a:cs typeface="Arial" pitchFamily="34" charset="-120"/>
              </a:rPr>
              <a:t>Apply a large retention credit and change contract terms.</a:t>
            </a:r>
            <a:endParaRPr lang="en-US" sz="2400" dirty="0"/>
          </a:p>
        </p:txBody>
      </p:sp>
      <p:sp>
        <p:nvSpPr>
          <p:cNvPr id="22" name="Text 20"/>
          <p:cNvSpPr/>
          <p:nvPr/>
        </p:nvSpPr>
        <p:spPr>
          <a:xfrm>
            <a:off x="10687050" y="6639389"/>
            <a:ext cx="6506528" cy="304800"/>
          </a:xfrm>
          <a:prstGeom prst="rect">
            <a:avLst/>
          </a:prstGeom>
          <a:noFill/>
          <a:ln/>
        </p:spPr>
        <p:txBody>
          <a:bodyPr wrap="square" lIns="25400" tIns="25400" rIns="25400" bIns="25400" rtlCol="0" anchor="t">
            <a:normAutofit/>
          </a:bodyPr>
          <a:lstStyle/>
          <a:p>
            <a:pPr algn="l" indent="0" marL="0">
              <a:buNone/>
            </a:pPr>
            <a:r>
              <a:rPr lang="en-US" sz="1650" dirty="0">
                <a:solidFill>
                  <a:srgbClr val="FFFFFF">
                    <a:alpha val="60000"/>
                  </a:srgbClr>
                </a:solidFill>
                <a:latin typeface="Arial" pitchFamily="34" charset="0"/>
                <a:ea typeface="Arial" pitchFamily="34" charset="-122"/>
                <a:cs typeface="Arial" pitchFamily="34" charset="-120"/>
              </a:rPr>
              <a:t>An autonomous, hard-to-reverse action</a:t>
            </a:r>
            <a:endParaRPr lang="en-US" sz="1650" dirty="0"/>
          </a:p>
        </p:txBody>
      </p:sp>
      <p:sp>
        <p:nvSpPr>
          <p:cNvPr id="23" name="Text 21"/>
          <p:cNvSpPr/>
          <p:nvPr/>
        </p:nvSpPr>
        <p:spPr>
          <a:xfrm>
            <a:off x="1238250" y="7908324"/>
            <a:ext cx="10094035" cy="728663"/>
          </a:xfrm>
          <a:prstGeom prst="rect">
            <a:avLst/>
          </a:prstGeom>
          <a:noFill/>
          <a:ln/>
        </p:spPr>
        <p:txBody>
          <a:bodyPr wrap="square" lIns="25400" tIns="25400" rIns="25400" bIns="25400" rtlCol="0" anchor="t">
            <a:normAutofit/>
          </a:bodyPr>
          <a:lstStyle/>
          <a:p>
            <a:pPr algn="l" indent="0" marL="0">
              <a:lnSpc>
                <a:spcPct val="125000"/>
              </a:lnSpc>
              <a:buNone/>
            </a:pPr>
            <a:r>
              <a:rPr lang="en-US" sz="1875" spc="-37" kern="0" dirty="0">
                <a:solidFill>
                  <a:srgbClr val="FFFFFF">
                    <a:alpha val="71000"/>
                  </a:srgbClr>
                </a:solidFill>
                <a:latin typeface="Arial" pitchFamily="34" charset="0"/>
                <a:ea typeface="Arial" pitchFamily="34" charset="-122"/>
                <a:cs typeface="Arial" pitchFamily="34" charset="-120"/>
              </a:rPr>
              <a:t>Each agent behaves correctly in isolation. The blast radius appears only at the boundary — where an unverified premise crosses into an autonomous action with nothing measuring the gap.</a:t>
            </a:r>
            <a:endParaRPr lang="en-US" sz="18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238250" y="2493466"/>
            <a:ext cx="8403446" cy="304800"/>
          </a:xfrm>
          <a:prstGeom prst="rect">
            <a:avLst/>
          </a:prstGeom>
          <a:noFill/>
          <a:ln/>
        </p:spPr>
        <p:txBody>
          <a:bodyPr wrap="square" lIns="25400" tIns="25400" rIns="25400" bIns="25400" rtlCol="0" anchor="t">
            <a:normAutofit/>
          </a:bodyPr>
          <a:lstStyle/>
          <a:p>
            <a:pPr algn="l" indent="0" marL="0">
              <a:buNone/>
            </a:pPr>
            <a:r>
              <a:rPr lang="en-US" sz="1800" b="1" spc="36" kern="0" dirty="0">
                <a:solidFill>
                  <a:srgbClr val="3694FC"/>
                </a:solidFill>
                <a:latin typeface="Arial" pitchFamily="34" charset="0"/>
                <a:ea typeface="Arial" pitchFamily="34" charset="-122"/>
                <a:cs typeface="Arial" pitchFamily="34" charset="-120"/>
              </a:rPr>
              <a:t>The solution</a:t>
            </a:r>
            <a:endParaRPr lang="en-US" sz="1800" dirty="0"/>
          </a:p>
        </p:txBody>
      </p:sp>
      <p:sp>
        <p:nvSpPr>
          <p:cNvPr id="3" name="Text 1"/>
          <p:cNvSpPr/>
          <p:nvPr/>
        </p:nvSpPr>
        <p:spPr>
          <a:xfrm>
            <a:off x="1238250" y="2950666"/>
            <a:ext cx="5761823" cy="1332905"/>
          </a:xfrm>
          <a:prstGeom prst="rect">
            <a:avLst/>
          </a:prstGeom>
          <a:noFill/>
          <a:ln/>
        </p:spPr>
        <p:txBody>
          <a:bodyPr wrap="square" lIns="25400" tIns="25400" rIns="25400" bIns="25400" rtlCol="0" anchor="t">
            <a:normAutofit/>
          </a:bodyPr>
          <a:lstStyle/>
          <a:p>
            <a:pPr algn="l" indent="0" marL="0">
              <a:lnSpc>
                <a:spcPct val="89447"/>
              </a:lnSpc>
              <a:buNone/>
            </a:pPr>
            <a:r>
              <a:rPr lang="en-US" sz="4950" b="1" spc="-148" kern="0" dirty="0">
                <a:solidFill>
                  <a:srgbClr val="21212B"/>
                </a:solidFill>
                <a:latin typeface="Arial" pitchFamily="34" charset="0"/>
                <a:ea typeface="Arial" pitchFamily="34" charset="-122"/>
                <a:cs typeface="Arial" pitchFamily="34" charset="-120"/>
              </a:rPr>
              <a:t>One gate. Two axes. Three routes.</a:t>
            </a:r>
            <a:endParaRPr lang="en-US" sz="4950" dirty="0"/>
          </a:p>
        </p:txBody>
      </p:sp>
      <p:sp>
        <p:nvSpPr>
          <p:cNvPr id="4" name="Text 2"/>
          <p:cNvSpPr/>
          <p:nvPr/>
        </p:nvSpPr>
        <p:spPr>
          <a:xfrm>
            <a:off x="1238250" y="4436138"/>
            <a:ext cx="6001880" cy="728662"/>
          </a:xfrm>
          <a:prstGeom prst="rect">
            <a:avLst/>
          </a:prstGeom>
          <a:noFill/>
          <a:ln/>
        </p:spPr>
        <p:txBody>
          <a:bodyPr wrap="square" lIns="25400" tIns="25400" rIns="25400" bIns="25400" rtlCol="0" anchor="t">
            <a:normAutofit/>
          </a:bodyPr>
          <a:lstStyle/>
          <a:p>
            <a:pPr algn="l" indent="0" marL="0">
              <a:lnSpc>
                <a:spcPct val="125000"/>
              </a:lnSpc>
              <a:buNone/>
            </a:pPr>
            <a:r>
              <a:rPr lang="en-US" sz="1875" spc="-37" kern="0" dirty="0">
                <a:solidFill>
                  <a:srgbClr val="54545F"/>
                </a:solidFill>
                <a:latin typeface="Arial" pitchFamily="34" charset="0"/>
                <a:ea typeface="Arial" pitchFamily="34" charset="-122"/>
                <a:cs typeface="Arial" pitchFamily="34" charset="-120"/>
              </a:rPr>
              <a:t>For every handoff, the Governor scores two things, then routing is decided in code — never by the model.</a:t>
            </a:r>
            <a:endParaRPr lang="en-US" sz="1875" dirty="0"/>
          </a:p>
        </p:txBody>
      </p:sp>
      <p:sp>
        <p:nvSpPr>
          <p:cNvPr id="5" name="Text 3"/>
          <p:cNvSpPr/>
          <p:nvPr/>
        </p:nvSpPr>
        <p:spPr>
          <a:xfrm>
            <a:off x="1238250" y="5624109"/>
            <a:ext cx="1347996" cy="333375"/>
          </a:xfrm>
          <a:prstGeom prst="rect">
            <a:avLst/>
          </a:prstGeom>
          <a:noFill/>
          <a:ln/>
        </p:spPr>
        <p:txBody>
          <a:bodyPr wrap="square" lIns="25400" tIns="25400" rIns="25400" bIns="25400" rtlCol="0" anchor="t">
            <a:normAutofit/>
          </a:bodyPr>
          <a:lstStyle/>
          <a:p>
            <a:pPr algn="l" indent="0" marL="0">
              <a:buNone/>
            </a:pPr>
            <a:r>
              <a:rPr lang="en-US" sz="1950" b="1" spc="-39" kern="0" dirty="0">
                <a:solidFill>
                  <a:srgbClr val="21212B">
                    <a:alpha val="99000"/>
                  </a:srgbClr>
                </a:solidFill>
                <a:latin typeface="Arial" pitchFamily="34" charset="0"/>
                <a:ea typeface="Arial" pitchFamily="34" charset="-122"/>
                <a:cs typeface="Arial" pitchFamily="34" charset="-120"/>
              </a:rPr>
              <a:t>Claim basis</a:t>
            </a:r>
            <a:endParaRPr lang="en-US" sz="1950" dirty="0"/>
          </a:p>
        </p:txBody>
      </p:sp>
      <p:sp>
        <p:nvSpPr>
          <p:cNvPr id="6" name="Text 4"/>
          <p:cNvSpPr/>
          <p:nvPr/>
        </p:nvSpPr>
        <p:spPr>
          <a:xfrm>
            <a:off x="6454825" y="5662209"/>
            <a:ext cx="2665214" cy="276225"/>
          </a:xfrm>
          <a:prstGeom prst="rect">
            <a:avLst/>
          </a:prstGeom>
          <a:noFill/>
          <a:ln/>
        </p:spPr>
        <p:txBody>
          <a:bodyPr wrap="square" lIns="25400" tIns="25400" rIns="25400" bIns="25400" rtlCol="0" anchor="t">
            <a:normAutofit/>
          </a:bodyPr>
          <a:lstStyle/>
          <a:p>
            <a:pPr algn="l" indent="0" marL="0">
              <a:buNone/>
            </a:pPr>
            <a:r>
              <a:rPr lang="en-US" sz="1500" dirty="0">
                <a:solidFill>
                  <a:srgbClr val="9A9AA3">
                    <a:alpha val="99000"/>
                  </a:srgbClr>
                </a:solidFill>
                <a:latin typeface="Arial" pitchFamily="34" charset="0"/>
                <a:ea typeface="Arial" pitchFamily="34" charset="-122"/>
                <a:cs typeface="Arial" pitchFamily="34" charset="-120"/>
              </a:rPr>
              <a:t>how grounded is the claim</a:t>
            </a:r>
            <a:endParaRPr lang="en-US" sz="1500" dirty="0"/>
          </a:p>
        </p:txBody>
      </p:sp>
      <p:sp>
        <p:nvSpPr>
          <p:cNvPr id="7" name="Shape 5"/>
          <p:cNvSpPr/>
          <p:nvPr/>
        </p:nvSpPr>
        <p:spPr>
          <a:xfrm>
            <a:off x="1238250" y="6033684"/>
            <a:ext cx="7544010" cy="152400"/>
          </a:xfrm>
          <a:prstGeom prst="roundRect">
            <a:avLst>
              <a:gd name="adj" fmla="val 50000"/>
            </a:avLst>
          </a:prstGeom>
          <a:gradFill rotWithShape="1">
            <a:gsLst>
              <a:gs pos="0">
                <a:srgbClr val="00E2A0">
                  <a:alpha val="99000"/>
                </a:srgbClr>
              </a:gs>
              <a:gs pos="45000">
                <a:srgbClr val="3694FC">
                  <a:alpha val="99000"/>
                </a:srgbClr>
              </a:gs>
              <a:gs pos="100000">
                <a:srgbClr val="6100FF">
                  <a:alpha val="99000"/>
                </a:srgbClr>
              </a:gs>
            </a:gsLst>
            <a:lin ang="0" scaled="0"/>
          </a:gradFill>
          <a:ln/>
        </p:spPr>
      </p:sp>
      <p:sp>
        <p:nvSpPr>
          <p:cNvPr id="8" name="Text 6"/>
          <p:cNvSpPr/>
          <p:nvPr/>
        </p:nvSpPr>
        <p:spPr>
          <a:xfrm>
            <a:off x="1238250" y="6281334"/>
            <a:ext cx="1239589" cy="276225"/>
          </a:xfrm>
          <a:prstGeom prst="rect">
            <a:avLst/>
          </a:prstGeom>
          <a:noFill/>
          <a:ln/>
        </p:spPr>
        <p:txBody>
          <a:bodyPr wrap="square" lIns="25400" tIns="25400" rIns="25400" bIns="25400" rtlCol="0" anchor="t">
            <a:normAutofit/>
          </a:bodyPr>
          <a:lstStyle/>
          <a:p>
            <a:pPr algn="l" indent="0" marL="0">
              <a:buNone/>
            </a:pPr>
            <a:r>
              <a:rPr lang="en-US" sz="1500" dirty="0">
                <a:solidFill>
                  <a:srgbClr val="54545F">
                    <a:alpha val="99000"/>
                  </a:srgbClr>
                </a:solidFill>
                <a:latin typeface="Arial" pitchFamily="34" charset="0"/>
                <a:ea typeface="Arial" pitchFamily="34" charset="-122"/>
                <a:cs typeface="Arial" pitchFamily="34" charset="-120"/>
              </a:rPr>
              <a:t>Verified fact</a:t>
            </a:r>
            <a:endParaRPr lang="en-US" sz="1500" dirty="0"/>
          </a:p>
        </p:txBody>
      </p:sp>
      <p:sp>
        <p:nvSpPr>
          <p:cNvPr id="9" name="Text 7"/>
          <p:cNvSpPr/>
          <p:nvPr/>
        </p:nvSpPr>
        <p:spPr>
          <a:xfrm>
            <a:off x="6870353" y="6281334"/>
            <a:ext cx="2208133" cy="276225"/>
          </a:xfrm>
          <a:prstGeom prst="rect">
            <a:avLst/>
          </a:prstGeom>
          <a:noFill/>
          <a:ln/>
        </p:spPr>
        <p:txBody>
          <a:bodyPr wrap="square" lIns="25400" tIns="25400" rIns="25400" bIns="25400" rtlCol="0" anchor="t">
            <a:normAutofit/>
          </a:bodyPr>
          <a:lstStyle/>
          <a:p>
            <a:pPr algn="l" indent="0" marL="0">
              <a:buNone/>
            </a:pPr>
            <a:r>
              <a:rPr lang="en-US" sz="1500" dirty="0">
                <a:solidFill>
                  <a:srgbClr val="54545F">
                    <a:alpha val="99000"/>
                  </a:srgbClr>
                </a:solidFill>
                <a:latin typeface="Arial" pitchFamily="34" charset="0"/>
                <a:ea typeface="Arial" pitchFamily="34" charset="-122"/>
                <a:cs typeface="Arial" pitchFamily="34" charset="-120"/>
              </a:rPr>
              <a:t>Speculative inference</a:t>
            </a:r>
            <a:endParaRPr lang="en-US" sz="1500" dirty="0"/>
          </a:p>
        </p:txBody>
      </p:sp>
      <p:sp>
        <p:nvSpPr>
          <p:cNvPr id="10" name="Text 8"/>
          <p:cNvSpPr/>
          <p:nvPr/>
        </p:nvSpPr>
        <p:spPr>
          <a:xfrm>
            <a:off x="1238250" y="6910279"/>
            <a:ext cx="2086332" cy="333375"/>
          </a:xfrm>
          <a:prstGeom prst="rect">
            <a:avLst/>
          </a:prstGeom>
          <a:noFill/>
          <a:ln/>
        </p:spPr>
        <p:txBody>
          <a:bodyPr wrap="square" lIns="25400" tIns="25400" rIns="25400" bIns="25400" rtlCol="0" anchor="t">
            <a:normAutofit/>
          </a:bodyPr>
          <a:lstStyle/>
          <a:p>
            <a:pPr algn="l" indent="0" marL="0">
              <a:buNone/>
            </a:pPr>
            <a:r>
              <a:rPr lang="en-US" sz="1950" b="1" spc="-39" kern="0" dirty="0">
                <a:solidFill>
                  <a:srgbClr val="21212B">
                    <a:alpha val="95000"/>
                  </a:srgbClr>
                </a:solidFill>
                <a:latin typeface="Arial" pitchFamily="34" charset="0"/>
                <a:ea typeface="Arial" pitchFamily="34" charset="-122"/>
                <a:cs typeface="Arial" pitchFamily="34" charset="-120"/>
              </a:rPr>
              <a:t>Action reversibility</a:t>
            </a:r>
            <a:endParaRPr lang="en-US" sz="1950" dirty="0"/>
          </a:p>
        </p:txBody>
      </p:sp>
      <p:sp>
        <p:nvSpPr>
          <p:cNvPr id="11" name="Text 9"/>
          <p:cNvSpPr/>
          <p:nvPr/>
        </p:nvSpPr>
        <p:spPr>
          <a:xfrm>
            <a:off x="6379220" y="6948379"/>
            <a:ext cx="2748379" cy="276225"/>
          </a:xfrm>
          <a:prstGeom prst="rect">
            <a:avLst/>
          </a:prstGeom>
          <a:noFill/>
          <a:ln/>
        </p:spPr>
        <p:txBody>
          <a:bodyPr wrap="square" lIns="25400" tIns="25400" rIns="25400" bIns="25400" rtlCol="0" anchor="t">
            <a:normAutofit/>
          </a:bodyPr>
          <a:lstStyle/>
          <a:p>
            <a:pPr algn="l" indent="0" marL="0">
              <a:buNone/>
            </a:pPr>
            <a:r>
              <a:rPr lang="en-US" sz="1500" dirty="0">
                <a:solidFill>
                  <a:srgbClr val="9A9AA3">
                    <a:alpha val="95000"/>
                  </a:srgbClr>
                </a:solidFill>
                <a:latin typeface="Arial" pitchFamily="34" charset="0"/>
                <a:ea typeface="Arial" pitchFamily="34" charset="-122"/>
                <a:cs typeface="Arial" pitchFamily="34" charset="-120"/>
              </a:rPr>
              <a:t>how undoable is the action</a:t>
            </a:r>
            <a:endParaRPr lang="en-US" sz="1500" dirty="0"/>
          </a:p>
        </p:txBody>
      </p:sp>
      <p:sp>
        <p:nvSpPr>
          <p:cNvPr id="12" name="Shape 10"/>
          <p:cNvSpPr/>
          <p:nvPr/>
        </p:nvSpPr>
        <p:spPr>
          <a:xfrm>
            <a:off x="1238250" y="7319854"/>
            <a:ext cx="7544010" cy="152400"/>
          </a:xfrm>
          <a:prstGeom prst="roundRect">
            <a:avLst>
              <a:gd name="adj" fmla="val 50000"/>
            </a:avLst>
          </a:prstGeom>
          <a:gradFill rotWithShape="1">
            <a:gsLst>
              <a:gs pos="0">
                <a:srgbClr val="3694FC">
                  <a:alpha val="95000"/>
                </a:srgbClr>
              </a:gs>
              <a:gs pos="100000">
                <a:srgbClr val="FF5B8A">
                  <a:alpha val="95000"/>
                </a:srgbClr>
              </a:gs>
            </a:gsLst>
            <a:lin ang="0" scaled="0"/>
          </a:gradFill>
          <a:ln/>
        </p:spPr>
      </p:sp>
      <p:sp>
        <p:nvSpPr>
          <p:cNvPr id="13" name="Text 11"/>
          <p:cNvSpPr/>
          <p:nvPr/>
        </p:nvSpPr>
        <p:spPr>
          <a:xfrm>
            <a:off x="1238250" y="7567504"/>
            <a:ext cx="1644640" cy="276225"/>
          </a:xfrm>
          <a:prstGeom prst="rect">
            <a:avLst/>
          </a:prstGeom>
          <a:noFill/>
          <a:ln/>
        </p:spPr>
        <p:txBody>
          <a:bodyPr wrap="square" lIns="25400" tIns="25400" rIns="25400" bIns="25400" rtlCol="0" anchor="t">
            <a:normAutofit/>
          </a:bodyPr>
          <a:lstStyle/>
          <a:p>
            <a:pPr algn="l" indent="0" marL="0">
              <a:buNone/>
            </a:pPr>
            <a:r>
              <a:rPr lang="en-US" sz="1500" dirty="0">
                <a:solidFill>
                  <a:srgbClr val="54545F">
                    <a:alpha val="95000"/>
                  </a:srgbClr>
                </a:solidFill>
                <a:latin typeface="Arial" pitchFamily="34" charset="0"/>
                <a:ea typeface="Arial" pitchFamily="34" charset="-122"/>
                <a:cs typeface="Arial" pitchFamily="34" charset="-120"/>
              </a:rPr>
              <a:t>Easily reversible</a:t>
            </a:r>
            <a:endParaRPr lang="en-US" sz="1500" dirty="0"/>
          </a:p>
        </p:txBody>
      </p:sp>
      <p:sp>
        <p:nvSpPr>
          <p:cNvPr id="14" name="Text 12"/>
          <p:cNvSpPr/>
          <p:nvPr/>
        </p:nvSpPr>
        <p:spPr>
          <a:xfrm>
            <a:off x="7847856" y="7567504"/>
            <a:ext cx="1106091" cy="276225"/>
          </a:xfrm>
          <a:prstGeom prst="rect">
            <a:avLst/>
          </a:prstGeom>
          <a:noFill/>
          <a:ln/>
        </p:spPr>
        <p:txBody>
          <a:bodyPr wrap="square" lIns="25400" tIns="25400" rIns="25400" bIns="25400" rtlCol="0" anchor="t">
            <a:normAutofit/>
          </a:bodyPr>
          <a:lstStyle/>
          <a:p>
            <a:pPr algn="l" indent="0" marL="0">
              <a:buNone/>
            </a:pPr>
            <a:r>
              <a:rPr lang="en-US" sz="1500" dirty="0">
                <a:solidFill>
                  <a:srgbClr val="54545F">
                    <a:alpha val="95000"/>
                  </a:srgbClr>
                </a:solidFill>
                <a:latin typeface="Arial" pitchFamily="34" charset="0"/>
                <a:ea typeface="Arial" pitchFamily="34" charset="-122"/>
                <a:cs typeface="Arial" pitchFamily="34" charset="-120"/>
              </a:rPr>
              <a:t>Irreversible</a:t>
            </a:r>
            <a:endParaRPr lang="en-US" sz="1500" dirty="0"/>
          </a:p>
        </p:txBody>
      </p:sp>
      <p:sp>
        <p:nvSpPr>
          <p:cNvPr id="15" name="Shape 13"/>
          <p:cNvSpPr/>
          <p:nvPr/>
        </p:nvSpPr>
        <p:spPr>
          <a:xfrm>
            <a:off x="9795249" y="2980784"/>
            <a:ext cx="7251250" cy="1303810"/>
          </a:xfrm>
          <a:prstGeom prst="roundRect">
            <a:avLst>
              <a:gd name="adj" fmla="val 16058"/>
            </a:avLst>
          </a:prstGeom>
          <a:solidFill>
            <a:srgbClr val="F2F0EB">
              <a:alpha val="98000"/>
            </a:srgbClr>
          </a:solidFill>
          <a:ln/>
        </p:spPr>
      </p:sp>
      <p:sp>
        <p:nvSpPr>
          <p:cNvPr id="16" name="Shape 14"/>
          <p:cNvSpPr/>
          <p:nvPr/>
        </p:nvSpPr>
        <p:spPr>
          <a:xfrm>
            <a:off x="9795249" y="2980784"/>
            <a:ext cx="76135" cy="1303810"/>
          </a:xfrm>
          <a:prstGeom prst="rect">
            <a:avLst/>
          </a:prstGeom>
          <a:solidFill>
            <a:srgbClr val="00B382">
              <a:alpha val="98000"/>
            </a:srgbClr>
          </a:solidFill>
          <a:ln/>
        </p:spPr>
      </p:sp>
      <p:sp>
        <p:nvSpPr>
          <p:cNvPr id="17" name="Shape 15"/>
          <p:cNvSpPr/>
          <p:nvPr/>
        </p:nvSpPr>
        <p:spPr>
          <a:xfrm>
            <a:off x="10233023" y="3375733"/>
            <a:ext cx="513910" cy="513910"/>
          </a:xfrm>
          <a:prstGeom prst="ellipse">
            <a:avLst/>
          </a:prstGeom>
          <a:solidFill>
            <a:srgbClr val="00E2A0">
              <a:alpha val="18000"/>
            </a:srgbClr>
          </a:solidFill>
          <a:ln/>
        </p:spPr>
      </p:sp>
      <p:sp>
        <p:nvSpPr>
          <p:cNvPr id="18" name="Text 16"/>
          <p:cNvSpPr/>
          <p:nvPr/>
        </p:nvSpPr>
        <p:spPr>
          <a:xfrm>
            <a:off x="10194923" y="3375733"/>
            <a:ext cx="590110" cy="552010"/>
          </a:xfrm>
          <a:prstGeom prst="rect">
            <a:avLst/>
          </a:prstGeom>
          <a:noFill/>
          <a:ln/>
        </p:spPr>
        <p:txBody>
          <a:bodyPr wrap="square" lIns="25400" tIns="25400" rIns="25400" bIns="25400" rtlCol="0" anchor="ctr">
            <a:normAutofit/>
          </a:bodyPr>
          <a:lstStyle/>
          <a:p>
            <a:pPr algn="ctr" indent="0" marL="0">
              <a:buNone/>
            </a:pPr>
            <a:r>
              <a:rPr lang="en-US" sz="2248" dirty="0">
                <a:solidFill>
                  <a:srgbClr val="06794F">
                    <a:alpha val="98000"/>
                  </a:srgbClr>
                </a:solidFill>
                <a:latin typeface="Arial" pitchFamily="34" charset="0"/>
                <a:ea typeface="Arial" pitchFamily="34" charset="-122"/>
                <a:cs typeface="Arial" pitchFamily="34" charset="-120"/>
              </a:rPr>
              <a:t>✓</a:t>
            </a:r>
            <a:endParaRPr lang="en-US" sz="2248" dirty="0"/>
          </a:p>
        </p:txBody>
      </p:sp>
      <p:sp>
        <p:nvSpPr>
          <p:cNvPr id="19" name="Text 17"/>
          <p:cNvSpPr/>
          <p:nvPr/>
        </p:nvSpPr>
        <p:spPr>
          <a:xfrm>
            <a:off x="10994372" y="3304357"/>
            <a:ext cx="5312296" cy="409258"/>
          </a:xfrm>
          <a:prstGeom prst="rect">
            <a:avLst/>
          </a:prstGeom>
          <a:noFill/>
          <a:ln/>
        </p:spPr>
        <p:txBody>
          <a:bodyPr wrap="square" lIns="25400" tIns="25400" rIns="25400" bIns="25400" rtlCol="0" anchor="t">
            <a:normAutofit/>
          </a:bodyPr>
          <a:lstStyle/>
          <a:p>
            <a:pPr algn="l" indent="0" marL="0">
              <a:buNone/>
            </a:pPr>
            <a:r>
              <a:rPr lang="en-US" sz="2548" b="1" spc="-51" kern="0" dirty="0">
                <a:solidFill>
                  <a:srgbClr val="21212B">
                    <a:alpha val="98000"/>
                  </a:srgbClr>
                </a:solidFill>
                <a:latin typeface="Arial" pitchFamily="34" charset="0"/>
                <a:ea typeface="Arial" pitchFamily="34" charset="-122"/>
                <a:cs typeface="Arial" pitchFamily="34" charset="-120"/>
              </a:rPr>
              <a:t>Auto-Execute</a:t>
            </a:r>
            <a:endParaRPr lang="en-US" sz="2548" dirty="0"/>
          </a:p>
        </p:txBody>
      </p:sp>
      <p:sp>
        <p:nvSpPr>
          <p:cNvPr id="20" name="Text 18"/>
          <p:cNvSpPr/>
          <p:nvPr/>
        </p:nvSpPr>
        <p:spPr>
          <a:xfrm>
            <a:off x="10994372" y="3713582"/>
            <a:ext cx="5312296" cy="285538"/>
          </a:xfrm>
          <a:prstGeom prst="rect">
            <a:avLst/>
          </a:prstGeom>
          <a:noFill/>
          <a:ln/>
        </p:spPr>
        <p:txBody>
          <a:bodyPr wrap="square" lIns="25400" tIns="25400" rIns="25400" bIns="25400" rtlCol="0" anchor="t">
            <a:normAutofit/>
          </a:bodyPr>
          <a:lstStyle/>
          <a:p>
            <a:pPr algn="l" indent="0" marL="0">
              <a:buNone/>
            </a:pPr>
            <a:r>
              <a:rPr lang="en-US" sz="1649" dirty="0">
                <a:solidFill>
                  <a:srgbClr val="54545F">
                    <a:alpha val="98000"/>
                  </a:srgbClr>
                </a:solidFill>
                <a:latin typeface="Arial" pitchFamily="34" charset="0"/>
                <a:ea typeface="Arial" pitchFamily="34" charset="-122"/>
                <a:cs typeface="Arial" pitchFamily="34" charset="-120"/>
              </a:rPr>
              <a:t>Grounded claim, low blast radius — runs on its own.</a:t>
            </a:r>
            <a:endParaRPr lang="en-US" sz="1649" dirty="0"/>
          </a:p>
        </p:txBody>
      </p:sp>
      <p:sp>
        <p:nvSpPr>
          <p:cNvPr id="21" name="Shape 19"/>
          <p:cNvSpPr/>
          <p:nvPr/>
        </p:nvSpPr>
        <p:spPr>
          <a:xfrm>
            <a:off x="9908332" y="4649167"/>
            <a:ext cx="7025083" cy="1263144"/>
          </a:xfrm>
          <a:prstGeom prst="roundRect">
            <a:avLst>
              <a:gd name="adj" fmla="val 16058"/>
            </a:avLst>
          </a:prstGeom>
          <a:solidFill>
            <a:srgbClr val="F2F0EB">
              <a:alpha val="20000"/>
            </a:srgbClr>
          </a:solidFill>
          <a:ln/>
        </p:spPr>
      </p:sp>
      <p:sp>
        <p:nvSpPr>
          <p:cNvPr id="22" name="Shape 20"/>
          <p:cNvSpPr/>
          <p:nvPr/>
        </p:nvSpPr>
        <p:spPr>
          <a:xfrm>
            <a:off x="9908332" y="4649167"/>
            <a:ext cx="73760" cy="1263144"/>
          </a:xfrm>
          <a:prstGeom prst="rect">
            <a:avLst/>
          </a:prstGeom>
          <a:solidFill>
            <a:srgbClr val="D99000">
              <a:alpha val="20000"/>
            </a:srgbClr>
          </a:solidFill>
          <a:ln/>
        </p:spPr>
      </p:sp>
      <p:sp>
        <p:nvSpPr>
          <p:cNvPr id="23" name="Shape 21"/>
          <p:cNvSpPr/>
          <p:nvPr/>
        </p:nvSpPr>
        <p:spPr>
          <a:xfrm>
            <a:off x="10332453" y="5031798"/>
            <a:ext cx="497881" cy="497881"/>
          </a:xfrm>
          <a:prstGeom prst="ellipse">
            <a:avLst/>
          </a:prstGeom>
          <a:solidFill>
            <a:srgbClr val="D99000">
              <a:alpha val="3000"/>
            </a:srgbClr>
          </a:solidFill>
          <a:ln/>
        </p:spPr>
      </p:sp>
      <p:sp>
        <p:nvSpPr>
          <p:cNvPr id="24" name="Text 22"/>
          <p:cNvSpPr/>
          <p:nvPr/>
        </p:nvSpPr>
        <p:spPr>
          <a:xfrm>
            <a:off x="10294353" y="5031798"/>
            <a:ext cx="574081" cy="535981"/>
          </a:xfrm>
          <a:prstGeom prst="rect">
            <a:avLst/>
          </a:prstGeom>
          <a:noFill/>
          <a:ln/>
        </p:spPr>
        <p:txBody>
          <a:bodyPr wrap="square" lIns="25400" tIns="25400" rIns="25400" bIns="25400" rtlCol="0" anchor="ctr">
            <a:normAutofit/>
          </a:bodyPr>
          <a:lstStyle/>
          <a:p>
            <a:pPr algn="ctr" indent="0" marL="0">
              <a:buNone/>
            </a:pPr>
            <a:r>
              <a:rPr lang="en-US" sz="2178" dirty="0">
                <a:solidFill>
                  <a:srgbClr val="9A6600">
                    <a:alpha val="20000"/>
                  </a:srgbClr>
                </a:solidFill>
                <a:latin typeface="Arial" pitchFamily="34" charset="0"/>
                <a:ea typeface="Arial" pitchFamily="34" charset="-122"/>
                <a:cs typeface="Arial" pitchFamily="34" charset="-120"/>
              </a:rPr>
              <a:t>◿</a:t>
            </a:r>
            <a:endParaRPr lang="en-US" sz="2178" dirty="0"/>
          </a:p>
        </p:txBody>
      </p:sp>
      <p:sp>
        <p:nvSpPr>
          <p:cNvPr id="25" name="Text 23"/>
          <p:cNvSpPr/>
          <p:nvPr/>
        </p:nvSpPr>
        <p:spPr>
          <a:xfrm>
            <a:off x="11070055" y="4962647"/>
            <a:ext cx="5928017" cy="397682"/>
          </a:xfrm>
          <a:prstGeom prst="rect">
            <a:avLst/>
          </a:prstGeom>
          <a:noFill/>
          <a:ln/>
        </p:spPr>
        <p:txBody>
          <a:bodyPr wrap="square" lIns="25400" tIns="25400" rIns="25400" bIns="25400" rtlCol="0" anchor="t">
            <a:normAutofit/>
          </a:bodyPr>
          <a:lstStyle/>
          <a:p>
            <a:pPr algn="l" indent="0" marL="0">
              <a:buNone/>
            </a:pPr>
            <a:r>
              <a:rPr lang="en-US" sz="2468" b="1" spc="-49" kern="0" dirty="0">
                <a:solidFill>
                  <a:srgbClr val="21212B">
                    <a:alpha val="20000"/>
                  </a:srgbClr>
                </a:solidFill>
                <a:latin typeface="Arial" pitchFamily="34" charset="0"/>
                <a:ea typeface="Arial" pitchFamily="34" charset="-122"/>
                <a:cs typeface="Arial" pitchFamily="34" charset="-120"/>
              </a:rPr>
              <a:t>Staged / Canary</a:t>
            </a:r>
            <a:endParaRPr lang="en-US" sz="2468" dirty="0"/>
          </a:p>
        </p:txBody>
      </p:sp>
      <p:sp>
        <p:nvSpPr>
          <p:cNvPr id="26" name="Text 24"/>
          <p:cNvSpPr/>
          <p:nvPr/>
        </p:nvSpPr>
        <p:spPr>
          <a:xfrm>
            <a:off x="11070055" y="5359108"/>
            <a:ext cx="5928017" cy="277821"/>
          </a:xfrm>
          <a:prstGeom prst="rect">
            <a:avLst/>
          </a:prstGeom>
          <a:noFill/>
          <a:ln/>
        </p:spPr>
        <p:txBody>
          <a:bodyPr wrap="square" lIns="25400" tIns="25400" rIns="25400" bIns="25400" rtlCol="0" anchor="t">
            <a:normAutofit/>
          </a:bodyPr>
          <a:lstStyle/>
          <a:p>
            <a:pPr algn="l" indent="0" marL="0">
              <a:buNone/>
            </a:pPr>
            <a:r>
              <a:rPr lang="en-US" sz="1597" dirty="0">
                <a:solidFill>
                  <a:srgbClr val="54545F">
                    <a:alpha val="20000"/>
                  </a:srgbClr>
                </a:solidFill>
                <a:latin typeface="Arial" pitchFamily="34" charset="0"/>
                <a:ea typeface="Arial" pitchFamily="34" charset="-122"/>
                <a:cs typeface="Arial" pitchFamily="34" charset="-120"/>
              </a:rPr>
              <a:t>Mixed signal — roll out narrowly and watch before it widens.</a:t>
            </a:r>
            <a:endParaRPr lang="en-US" sz="159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0EB"/>
        </a:solidFill>
      </p:bgPr>
    </p:bg>
    <p:spTree>
      <p:nvGrpSpPr>
        <p:cNvPr id="1" name=""/>
        <p:cNvGrpSpPr/>
        <p:nvPr/>
      </p:nvGrpSpPr>
      <p:grpSpPr>
        <a:xfrm>
          <a:off x="0" y="0"/>
          <a:ext cx="0" cy="0"/>
          <a:chOff x="0" y="0"/>
          <a:chExt cx="0" cy="0"/>
        </a:xfrm>
      </p:grpSpPr>
      <p:sp>
        <p:nvSpPr>
          <p:cNvPr id="2" name="Text 0"/>
          <p:cNvSpPr/>
          <p:nvPr/>
        </p:nvSpPr>
        <p:spPr>
          <a:xfrm>
            <a:off x="1047750" y="1444972"/>
            <a:ext cx="704404" cy="304800"/>
          </a:xfrm>
          <a:prstGeom prst="rect">
            <a:avLst/>
          </a:prstGeom>
          <a:noFill/>
          <a:ln/>
        </p:spPr>
        <p:txBody>
          <a:bodyPr wrap="square" lIns="25400" tIns="25400" rIns="25400" bIns="25400" rtlCol="0" anchor="t">
            <a:normAutofit/>
          </a:bodyPr>
          <a:lstStyle/>
          <a:p>
            <a:pPr algn="l" indent="0" marL="0">
              <a:buNone/>
            </a:pPr>
            <a:r>
              <a:rPr lang="en-US" sz="1800" b="1" spc="36" kern="0" dirty="0">
                <a:solidFill>
                  <a:srgbClr val="3694FC"/>
                </a:solidFill>
                <a:latin typeface="Arial" pitchFamily="34" charset="0"/>
                <a:ea typeface="Arial" pitchFamily="34" charset="-122"/>
                <a:cs typeface="Arial" pitchFamily="34" charset="-120"/>
              </a:rPr>
              <a:t>Demo</a:t>
            </a:r>
            <a:endParaRPr lang="en-US" sz="1800" dirty="0"/>
          </a:p>
        </p:txBody>
      </p:sp>
      <p:sp>
        <p:nvSpPr>
          <p:cNvPr id="3" name="Text 1"/>
          <p:cNvSpPr/>
          <p:nvPr/>
        </p:nvSpPr>
        <p:spPr>
          <a:xfrm>
            <a:off x="1885504" y="1197322"/>
            <a:ext cx="8187675" cy="582067"/>
          </a:xfrm>
          <a:prstGeom prst="rect">
            <a:avLst/>
          </a:prstGeom>
          <a:noFill/>
          <a:ln/>
        </p:spPr>
        <p:txBody>
          <a:bodyPr wrap="square" lIns="25400" tIns="25400" rIns="25400" bIns="25400" rtlCol="0" anchor="t">
            <a:normAutofit/>
          </a:bodyPr>
          <a:lstStyle/>
          <a:p>
            <a:pPr algn="l" indent="0" marL="0">
              <a:lnSpc>
                <a:spcPct val="87877"/>
              </a:lnSpc>
              <a:buNone/>
            </a:pPr>
            <a:r>
              <a:rPr lang="en-US" sz="4200" b="1" spc="-126" kern="0" dirty="0">
                <a:solidFill>
                  <a:srgbClr val="21212B"/>
                </a:solidFill>
                <a:latin typeface="Arial" pitchFamily="34" charset="0"/>
                <a:ea typeface="Arial" pitchFamily="34" charset="-122"/>
                <a:cs typeface="Arial" pitchFamily="34" charset="-120"/>
              </a:rPr>
              <a:t>A live decision, and the full picture</a:t>
            </a:r>
            <a:endParaRPr lang="en-US" sz="4200" dirty="0"/>
          </a:p>
        </p:txBody>
      </p:sp>
      <p:sp>
        <p:nvSpPr>
          <p:cNvPr id="4" name="Shape 2"/>
          <p:cNvSpPr/>
          <p:nvPr/>
        </p:nvSpPr>
        <p:spPr>
          <a:xfrm>
            <a:off x="1047750" y="2065306"/>
            <a:ext cx="7829550" cy="4864298"/>
          </a:xfrm>
          <a:prstGeom prst="roundRect">
            <a:avLst>
              <a:gd name="adj" fmla="val 4700"/>
            </a:avLst>
          </a:prstGeom>
          <a:solidFill>
            <a:srgbClr val="FFFFFF"/>
          </a:solidFill>
          <a:ln w="9525">
            <a:solidFill>
              <a:srgbClr val="21212B">
                <a:alpha val="12000"/>
              </a:srgbClr>
            </a:solidFill>
            <a:prstDash val="solid"/>
          </a:ln>
          <a:effectLst>
            <a:outerShdw sx="100000" sy="100000" kx="0" ky="0" algn="bl" rotWithShape="0" blurRad="457200" dist="171450" dir="5400000">
              <a:srgbClr val="21212B">
                <a:alpha val="11992"/>
              </a:srgbClr>
            </a:outerShdw>
          </a:effectLst>
        </p:spPr>
      </p:sp>
      <p:pic>
        <p:nvPicPr>
          <p:cNvPr id="5" name="Image 0" descr="preencoded.png">    </p:cNvPr>
          <p:cNvPicPr>
            <a:picLocks noChangeAspect="1"/>
          </p:cNvPicPr>
          <p:nvPr/>
        </p:nvPicPr>
        <p:blipFill>
          <a:blip r:embed="rId1"/>
          <a:stretch>
            <a:fillRect/>
          </a:stretch>
        </p:blipFill>
        <p:spPr>
          <a:xfrm>
            <a:off x="1057275" y="2074831"/>
            <a:ext cx="7810500" cy="4845248"/>
          </a:xfrm>
          <a:prstGeom prst="rect">
            <a:avLst/>
          </a:prstGeom>
        </p:spPr>
      </p:pic>
      <p:sp>
        <p:nvSpPr>
          <p:cNvPr id="6" name="Text 3"/>
          <p:cNvSpPr/>
          <p:nvPr/>
        </p:nvSpPr>
        <p:spPr>
          <a:xfrm>
            <a:off x="1047750" y="7120104"/>
            <a:ext cx="8612505" cy="32385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21212B"/>
                </a:solidFill>
                <a:latin typeface="Arial" pitchFamily="34" charset="0"/>
                <a:ea typeface="Arial" pitchFamily="34" charset="-122"/>
                <a:cs typeface="Arial" pitchFamily="34" charset="-120"/>
              </a:rPr>
              <a:t>One handoff, scored live</a:t>
            </a:r>
            <a:endParaRPr lang="en-US" sz="1800" dirty="0"/>
          </a:p>
        </p:txBody>
      </p:sp>
      <p:sp>
        <p:nvSpPr>
          <p:cNvPr id="7" name="Text 4"/>
          <p:cNvSpPr/>
          <p:nvPr/>
        </p:nvSpPr>
        <p:spPr>
          <a:xfrm>
            <a:off x="1047750" y="7520154"/>
            <a:ext cx="8064437" cy="597991"/>
          </a:xfrm>
          <a:prstGeom prst="rect">
            <a:avLst/>
          </a:prstGeom>
          <a:noFill/>
          <a:ln/>
        </p:spPr>
        <p:txBody>
          <a:bodyPr wrap="square" lIns="25400" tIns="25400" rIns="25400" bIns="25400" rtlCol="0" anchor="t">
            <a:normAutofit/>
          </a:bodyPr>
          <a:lstStyle/>
          <a:p>
            <a:pPr algn="l" indent="0" marL="0">
              <a:lnSpc>
                <a:spcPct val="122500"/>
              </a:lnSpc>
              <a:buNone/>
            </a:pPr>
            <a:r>
              <a:rPr lang="en-US" sz="1575" dirty="0">
                <a:solidFill>
                  <a:srgbClr val="54545F"/>
                </a:solidFill>
                <a:latin typeface="Arial" pitchFamily="34" charset="0"/>
                <a:ea typeface="Arial" pitchFamily="34" charset="-122"/>
                <a:cs typeface="Arial" pitchFamily="34" charset="-120"/>
              </a:rPr>
              <a:t>Route, blast-radius score, plain-language rationale, and a log line with the model and latency.</a:t>
            </a:r>
            <a:endParaRPr lang="en-US" sz="1575" dirty="0"/>
          </a:p>
        </p:txBody>
      </p:sp>
      <p:sp>
        <p:nvSpPr>
          <p:cNvPr id="8" name="Text 5"/>
          <p:cNvSpPr/>
          <p:nvPr/>
        </p:nvSpPr>
        <p:spPr>
          <a:xfrm>
            <a:off x="1047750" y="8289596"/>
            <a:ext cx="8064437" cy="838200"/>
          </a:xfrm>
          <a:prstGeom prst="rect">
            <a:avLst/>
          </a:prstGeom>
          <a:noFill/>
          <a:ln/>
        </p:spPr>
        <p:txBody>
          <a:bodyPr wrap="square" lIns="25400" tIns="25400" rIns="25400" bIns="25400" rtlCol="0" anchor="t">
            <a:normAutofit/>
          </a:bodyPr>
          <a:lstStyle/>
          <a:p>
            <a:pPr algn="l" indent="0" marL="0">
              <a:lnSpc>
                <a:spcPct val="121739"/>
              </a:lnSpc>
              <a:buNone/>
            </a:pPr>
            <a:r>
              <a:rPr lang="en-US" sz="1500" dirty="0">
                <a:solidFill>
                  <a:srgbClr val="C22A4C"/>
                </a:solidFill>
                <a:latin typeface="Arial" pitchFamily="34" charset="0"/>
                <a:ea typeface="Arial" pitchFamily="34" charset="-122"/>
                <a:cs typeface="Arial" pitchFamily="34" charset="-120"/>
              </a:rPr>
              <a:t>One of the six scenarios triggers a live model failure during the demo — the system routes it to Human Review instead of guessing. That’s the fail-safe working as designed, not a bug.</a:t>
            </a:r>
            <a:endParaRPr lang="en-US" sz="1500" dirty="0"/>
          </a:p>
        </p:txBody>
      </p:sp>
      <p:sp>
        <p:nvSpPr>
          <p:cNvPr id="9" name="Shape 6"/>
          <p:cNvSpPr/>
          <p:nvPr/>
        </p:nvSpPr>
        <p:spPr>
          <a:xfrm>
            <a:off x="9410700" y="2065306"/>
            <a:ext cx="7829550" cy="4562029"/>
          </a:xfrm>
          <a:prstGeom prst="roundRect">
            <a:avLst>
              <a:gd name="adj" fmla="val 5011"/>
            </a:avLst>
          </a:prstGeom>
          <a:solidFill>
            <a:srgbClr val="FFFFFF"/>
          </a:solidFill>
          <a:ln w="9525">
            <a:solidFill>
              <a:srgbClr val="21212B">
                <a:alpha val="12000"/>
              </a:srgbClr>
            </a:solidFill>
            <a:prstDash val="solid"/>
          </a:ln>
          <a:effectLst>
            <a:outerShdw sx="100000" sy="100000" kx="0" ky="0" algn="bl" rotWithShape="0" blurRad="457200" dist="171450" dir="5400000">
              <a:srgbClr val="21212B">
                <a:alpha val="11992"/>
              </a:srgbClr>
            </a:outerShdw>
          </a:effectLst>
        </p:spPr>
      </p:sp>
      <p:pic>
        <p:nvPicPr>
          <p:cNvPr id="10" name="Image 1" descr="preencoded.png">    </p:cNvPr>
          <p:cNvPicPr>
            <a:picLocks noChangeAspect="1"/>
          </p:cNvPicPr>
          <p:nvPr/>
        </p:nvPicPr>
        <p:blipFill>
          <a:blip r:embed="rId2"/>
          <a:stretch>
            <a:fillRect/>
          </a:stretch>
        </p:blipFill>
        <p:spPr>
          <a:xfrm>
            <a:off x="9420225" y="2074831"/>
            <a:ext cx="7810500" cy="4542979"/>
          </a:xfrm>
          <a:prstGeom prst="rect">
            <a:avLst/>
          </a:prstGeom>
        </p:spPr>
      </p:pic>
      <p:sp>
        <p:nvSpPr>
          <p:cNvPr id="11" name="Text 7"/>
          <p:cNvSpPr/>
          <p:nvPr/>
        </p:nvSpPr>
        <p:spPr>
          <a:xfrm>
            <a:off x="9410700" y="6817834"/>
            <a:ext cx="8612505" cy="32385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21212B"/>
                </a:solidFill>
                <a:latin typeface="Arial" pitchFamily="34" charset="0"/>
                <a:ea typeface="Arial" pitchFamily="34" charset="-122"/>
                <a:cs typeface="Arial" pitchFamily="34" charset="-120"/>
              </a:rPr>
              <a:t>All six, one gate</a:t>
            </a:r>
            <a:endParaRPr lang="en-US" sz="1800" dirty="0"/>
          </a:p>
        </p:txBody>
      </p:sp>
      <p:sp>
        <p:nvSpPr>
          <p:cNvPr id="12" name="Text 8"/>
          <p:cNvSpPr/>
          <p:nvPr/>
        </p:nvSpPr>
        <p:spPr>
          <a:xfrm>
            <a:off x="9410700" y="7217884"/>
            <a:ext cx="8064437" cy="597991"/>
          </a:xfrm>
          <a:prstGeom prst="rect">
            <a:avLst/>
          </a:prstGeom>
          <a:noFill/>
          <a:ln/>
        </p:spPr>
        <p:txBody>
          <a:bodyPr wrap="square" lIns="25400" tIns="25400" rIns="25400" bIns="25400" rtlCol="0" anchor="t">
            <a:normAutofit/>
          </a:bodyPr>
          <a:lstStyle/>
          <a:p>
            <a:pPr algn="l" indent="0" marL="0">
              <a:lnSpc>
                <a:spcPct val="122500"/>
              </a:lnSpc>
              <a:buNone/>
            </a:pPr>
            <a:r>
              <a:rPr lang="en-US" sz="1575" dirty="0">
                <a:solidFill>
                  <a:srgbClr val="54545F"/>
                </a:solidFill>
                <a:latin typeface="Arial" pitchFamily="34" charset="0"/>
                <a:ea typeface="Arial" pitchFamily="34" charset="-122"/>
                <a:cs typeface="Arial" pitchFamily="34" charset="-120"/>
              </a:rPr>
              <a:t>Both domains, the full outcome range — two auto-execute, one staged, three human review.</a:t>
            </a:r>
            <a:endParaRPr lang="en-US" sz="15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238250" y="1004143"/>
            <a:ext cx="17392650" cy="304800"/>
          </a:xfrm>
          <a:prstGeom prst="rect">
            <a:avLst/>
          </a:prstGeom>
          <a:noFill/>
          <a:ln/>
        </p:spPr>
        <p:txBody>
          <a:bodyPr wrap="square" lIns="25400" tIns="25400" rIns="25400" bIns="25400" rtlCol="0" anchor="t">
            <a:normAutofit/>
          </a:bodyPr>
          <a:lstStyle/>
          <a:p>
            <a:pPr algn="l" indent="0" marL="0">
              <a:buNone/>
            </a:pPr>
            <a:r>
              <a:rPr lang="en-US" sz="1800" b="1" spc="36" kern="0" dirty="0">
                <a:solidFill>
                  <a:srgbClr val="3694FC"/>
                </a:solidFill>
                <a:latin typeface="Arial" pitchFamily="34" charset="0"/>
                <a:ea typeface="Arial" pitchFamily="34" charset="-122"/>
                <a:cs typeface="Arial" pitchFamily="34" charset="-120"/>
              </a:rPr>
              <a:t>Proof of genericity</a:t>
            </a:r>
            <a:endParaRPr lang="en-US" sz="1800" dirty="0"/>
          </a:p>
        </p:txBody>
      </p:sp>
      <p:sp>
        <p:nvSpPr>
          <p:cNvPr id="3" name="Text 1"/>
          <p:cNvSpPr/>
          <p:nvPr/>
        </p:nvSpPr>
        <p:spPr>
          <a:xfrm>
            <a:off x="1238250" y="1461343"/>
            <a:ext cx="9079236" cy="1293614"/>
          </a:xfrm>
          <a:prstGeom prst="rect">
            <a:avLst/>
          </a:prstGeom>
          <a:noFill/>
          <a:ln/>
        </p:spPr>
        <p:txBody>
          <a:bodyPr wrap="square" lIns="25400" tIns="25400" rIns="25400" bIns="25400" rtlCol="0" anchor="t">
            <a:normAutofit/>
          </a:bodyPr>
          <a:lstStyle/>
          <a:p>
            <a:pPr algn="l" indent="0" marL="0">
              <a:lnSpc>
                <a:spcPct val="89081"/>
              </a:lnSpc>
              <a:buNone/>
            </a:pPr>
            <a:r>
              <a:rPr lang="en-US" sz="4800" b="1" spc="-144" kern="0" dirty="0">
                <a:solidFill>
                  <a:srgbClr val="21212B"/>
                </a:solidFill>
                <a:latin typeface="Arial" pitchFamily="34" charset="0"/>
                <a:ea typeface="Arial" pitchFamily="34" charset="-122"/>
                <a:cs typeface="Arial" pitchFamily="34" charset="-120"/>
              </a:rPr>
              <a:t>One engine. Two unrelated domains.</a:t>
            </a:r>
            <a:endParaRPr lang="en-US" sz="4800" dirty="0"/>
          </a:p>
        </p:txBody>
      </p:sp>
      <p:sp>
        <p:nvSpPr>
          <p:cNvPr id="4" name="Text 2"/>
          <p:cNvSpPr/>
          <p:nvPr/>
        </p:nvSpPr>
        <p:spPr>
          <a:xfrm>
            <a:off x="1238250" y="2850373"/>
            <a:ext cx="8184312"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spc="-37" kern="0" dirty="0">
                <a:solidFill>
                  <a:srgbClr val="54545F"/>
                </a:solidFill>
                <a:latin typeface="Arial" pitchFamily="34" charset="0"/>
                <a:ea typeface="Arial" pitchFamily="34" charset="-122"/>
                <a:cs typeface="Arial" pitchFamily="34" charset="-120"/>
              </a:rPr>
              <a:t>Same two axes, same three outcomes — the scoring engine is unmodified between pipelines. Nothing in it knows about billing or fraud.</a:t>
            </a:r>
            <a:endParaRPr lang="en-US" sz="1875" dirty="0"/>
          </a:p>
        </p:txBody>
      </p:sp>
      <p:sp>
        <p:nvSpPr>
          <p:cNvPr id="5" name="Shape 3"/>
          <p:cNvSpPr/>
          <p:nvPr/>
        </p:nvSpPr>
        <p:spPr>
          <a:xfrm>
            <a:off x="1238250" y="4014527"/>
            <a:ext cx="7715250" cy="4489549"/>
          </a:xfrm>
          <a:prstGeom prst="roundRect">
            <a:avLst>
              <a:gd name="adj" fmla="val 5940"/>
            </a:avLst>
          </a:prstGeom>
          <a:solidFill>
            <a:srgbClr val="F2F0EB">
              <a:alpha val="99000"/>
            </a:srgbClr>
          </a:solidFill>
          <a:ln/>
        </p:spPr>
      </p:sp>
      <p:sp>
        <p:nvSpPr>
          <p:cNvPr id="6" name="Text 4"/>
          <p:cNvSpPr/>
          <p:nvPr/>
        </p:nvSpPr>
        <p:spPr>
          <a:xfrm>
            <a:off x="1657350" y="4433627"/>
            <a:ext cx="7564755" cy="342900"/>
          </a:xfrm>
          <a:prstGeom prst="rect">
            <a:avLst/>
          </a:prstGeom>
          <a:noFill/>
          <a:ln/>
        </p:spPr>
        <p:txBody>
          <a:bodyPr wrap="square" lIns="25400" tIns="25400" rIns="25400" bIns="25400" rtlCol="0" anchor="t">
            <a:normAutofit/>
          </a:bodyPr>
          <a:lstStyle/>
          <a:p>
            <a:pPr algn="l" indent="0" marL="0">
              <a:buNone/>
            </a:pPr>
            <a:r>
              <a:rPr lang="en-US" sz="2100" b="1" spc="-42" kern="0" dirty="0">
                <a:solidFill>
                  <a:srgbClr val="21212B">
                    <a:alpha val="99000"/>
                  </a:srgbClr>
                </a:solidFill>
                <a:latin typeface="Arial" pitchFamily="34" charset="0"/>
                <a:ea typeface="Arial" pitchFamily="34" charset="-122"/>
                <a:cs typeface="Arial" pitchFamily="34" charset="-120"/>
              </a:rPr>
              <a:t>Intent Classifier </a:t>
            </a:r>
            <a:pPr algn="l" indent="0" marL="0">
              <a:buNone/>
            </a:pPr>
            <a:r>
              <a:rPr lang="en-US" sz="2100" b="1" spc="-42" kern="0" dirty="0">
                <a:solidFill>
                  <a:srgbClr val="3694FC">
                    <a:alpha val="99000"/>
                  </a:srgbClr>
                </a:solidFill>
                <a:latin typeface="Arial" pitchFamily="34" charset="0"/>
                <a:ea typeface="Arial" pitchFamily="34" charset="-122"/>
                <a:cs typeface="Arial" pitchFamily="34" charset="-120"/>
              </a:rPr>
              <a:t>→ </a:t>
            </a:r>
            <a:pPr algn="l" indent="0" marL="0">
              <a:buNone/>
            </a:pPr>
            <a:r>
              <a:rPr lang="en-US" sz="2100" b="1" spc="-42" kern="0" dirty="0">
                <a:solidFill>
                  <a:srgbClr val="21212B">
                    <a:alpha val="99000"/>
                  </a:srgbClr>
                </a:solidFill>
                <a:latin typeface="Arial" pitchFamily="34" charset="0"/>
                <a:ea typeface="Arial" pitchFamily="34" charset="-122"/>
                <a:cs typeface="Arial" pitchFamily="34" charset="-120"/>
              </a:rPr>
              <a:t>Billing Agent</a:t>
            </a:r>
            <a:endParaRPr lang="en-US" sz="2100" dirty="0"/>
          </a:p>
        </p:txBody>
      </p:sp>
      <p:sp>
        <p:nvSpPr>
          <p:cNvPr id="7" name="Text 5"/>
          <p:cNvSpPr/>
          <p:nvPr/>
        </p:nvSpPr>
        <p:spPr>
          <a:xfrm>
            <a:off x="1657350" y="4795577"/>
            <a:ext cx="7564755" cy="276225"/>
          </a:xfrm>
          <a:prstGeom prst="rect">
            <a:avLst/>
          </a:prstGeom>
          <a:noFill/>
          <a:ln/>
        </p:spPr>
        <p:txBody>
          <a:bodyPr wrap="square" lIns="25400" tIns="25400" rIns="25400" bIns="25400" rtlCol="0" anchor="t">
            <a:normAutofit/>
          </a:bodyPr>
          <a:lstStyle/>
          <a:p>
            <a:pPr algn="l" indent="0" marL="0">
              <a:buNone/>
            </a:pPr>
            <a:r>
              <a:rPr lang="en-US" sz="1500" dirty="0">
                <a:solidFill>
                  <a:srgbClr val="9A9AA3">
                    <a:alpha val="99000"/>
                  </a:srgbClr>
                </a:solidFill>
                <a:latin typeface="Arial" pitchFamily="34" charset="0"/>
                <a:ea typeface="Arial" pitchFamily="34" charset="-122"/>
                <a:cs typeface="Arial" pitchFamily="34" charset="-120"/>
              </a:rPr>
              <a:t>billing domain · 3 scenarios</a:t>
            </a:r>
            <a:endParaRPr lang="en-US" sz="1500" dirty="0"/>
          </a:p>
        </p:txBody>
      </p:sp>
      <p:sp>
        <p:nvSpPr>
          <p:cNvPr id="8" name="Shape 6"/>
          <p:cNvSpPr/>
          <p:nvPr/>
        </p:nvSpPr>
        <p:spPr>
          <a:xfrm>
            <a:off x="1657350" y="5300402"/>
            <a:ext cx="6877050" cy="9525"/>
          </a:xfrm>
          <a:prstGeom prst="rect">
            <a:avLst/>
          </a:prstGeom>
          <a:solidFill>
            <a:srgbClr val="21212B">
              <a:alpha val="10000"/>
            </a:srgbClr>
          </a:solidFill>
          <a:ln/>
        </p:spPr>
      </p:sp>
      <p:sp>
        <p:nvSpPr>
          <p:cNvPr id="9" name="Text 7"/>
          <p:cNvSpPr/>
          <p:nvPr/>
        </p:nvSpPr>
        <p:spPr>
          <a:xfrm>
            <a:off x="1657350" y="5500427"/>
            <a:ext cx="5454011" cy="607516"/>
          </a:xfrm>
          <a:prstGeom prst="rect">
            <a:avLst/>
          </a:prstGeom>
          <a:noFill/>
          <a:ln/>
        </p:spPr>
        <p:txBody>
          <a:bodyPr wrap="square" lIns="25400" tIns="25400" rIns="25400" bIns="25400" rtlCol="0" anchor="t">
            <a:normAutofit/>
          </a:bodyPr>
          <a:lstStyle/>
          <a:p>
            <a:pPr algn="l" indent="0" marL="0">
              <a:lnSpc>
                <a:spcPct val="110741"/>
              </a:lnSpc>
              <a:buNone/>
            </a:pPr>
            <a:r>
              <a:rPr lang="en-US" sz="1725" spc="-17" kern="0" dirty="0">
                <a:solidFill>
                  <a:srgbClr val="21212B">
                    <a:alpha val="99000"/>
                  </a:srgbClr>
                </a:solidFill>
                <a:latin typeface="Arial" pitchFamily="34" charset="0"/>
                <a:ea typeface="Arial" pitchFamily="34" charset="-122"/>
                <a:cs typeface="Arial" pitchFamily="34" charset="-120"/>
              </a:rPr>
              <a:t>Duplicate charge, confirmed against the transaction log</a:t>
            </a:r>
            <a:endParaRPr lang="en-US" sz="1725" dirty="0"/>
          </a:p>
        </p:txBody>
      </p:sp>
      <p:sp>
        <p:nvSpPr>
          <p:cNvPr id="10" name="Shape 8"/>
          <p:cNvSpPr/>
          <p:nvPr/>
        </p:nvSpPr>
        <p:spPr>
          <a:xfrm>
            <a:off x="7143006" y="5613685"/>
            <a:ext cx="1391394" cy="342900"/>
          </a:xfrm>
          <a:prstGeom prst="roundRect">
            <a:avLst>
              <a:gd name="adj" fmla="val 50000"/>
            </a:avLst>
          </a:prstGeom>
          <a:solidFill>
            <a:srgbClr val="00E2A0">
              <a:alpha val="16000"/>
            </a:srgbClr>
          </a:solidFill>
          <a:ln/>
        </p:spPr>
      </p:sp>
      <p:sp>
        <p:nvSpPr>
          <p:cNvPr id="11" name="Text 9"/>
          <p:cNvSpPr/>
          <p:nvPr/>
        </p:nvSpPr>
        <p:spPr>
          <a:xfrm>
            <a:off x="7295406" y="5680360"/>
            <a:ext cx="1162794" cy="247650"/>
          </a:xfrm>
          <a:prstGeom prst="rect">
            <a:avLst/>
          </a:prstGeom>
          <a:noFill/>
          <a:ln/>
        </p:spPr>
        <p:txBody>
          <a:bodyPr wrap="none" lIns="25400" tIns="25400" rIns="25400" bIns="25400" rtlCol="0" anchor="t">
            <a:normAutofit/>
          </a:bodyPr>
          <a:lstStyle/>
          <a:p>
            <a:pPr algn="l" indent="0" marL="0">
              <a:buNone/>
            </a:pPr>
            <a:r>
              <a:rPr lang="en-US" sz="1425" b="1" dirty="0">
                <a:solidFill>
                  <a:srgbClr val="06794F">
                    <a:alpha val="99000"/>
                  </a:srgbClr>
                </a:solidFill>
                <a:latin typeface="Arial" pitchFamily="34" charset="0"/>
                <a:ea typeface="Arial" pitchFamily="34" charset="-122"/>
                <a:cs typeface="Arial" pitchFamily="34" charset="-120"/>
              </a:rPr>
              <a:t>Auto-Execute</a:t>
            </a:r>
            <a:endParaRPr lang="en-US" sz="1425" dirty="0"/>
          </a:p>
        </p:txBody>
      </p:sp>
      <p:sp>
        <p:nvSpPr>
          <p:cNvPr id="12" name="Shape 10"/>
          <p:cNvSpPr/>
          <p:nvPr/>
        </p:nvSpPr>
        <p:spPr>
          <a:xfrm>
            <a:off x="1657350" y="6260343"/>
            <a:ext cx="6877050" cy="9525"/>
          </a:xfrm>
          <a:prstGeom prst="rect">
            <a:avLst/>
          </a:prstGeom>
          <a:solidFill>
            <a:srgbClr val="21212B">
              <a:alpha val="10000"/>
            </a:srgbClr>
          </a:solidFill>
          <a:ln/>
        </p:spPr>
      </p:sp>
      <p:sp>
        <p:nvSpPr>
          <p:cNvPr id="13" name="Text 11"/>
          <p:cNvSpPr/>
          <p:nvPr/>
        </p:nvSpPr>
        <p:spPr>
          <a:xfrm>
            <a:off x="1657350" y="6460368"/>
            <a:ext cx="5226064" cy="607516"/>
          </a:xfrm>
          <a:prstGeom prst="rect">
            <a:avLst/>
          </a:prstGeom>
          <a:noFill/>
          <a:ln/>
        </p:spPr>
        <p:txBody>
          <a:bodyPr wrap="square" lIns="25400" tIns="25400" rIns="25400" bIns="25400" rtlCol="0" anchor="t">
            <a:normAutofit/>
          </a:bodyPr>
          <a:lstStyle/>
          <a:p>
            <a:pPr algn="l" indent="0" marL="0">
              <a:lnSpc>
                <a:spcPct val="110741"/>
              </a:lnSpc>
              <a:buNone/>
            </a:pPr>
            <a:r>
              <a:rPr lang="en-US" sz="1725" spc="-17" kern="0" dirty="0">
                <a:solidFill>
                  <a:srgbClr val="21212B">
                    <a:alpha val="99000"/>
                  </a:srgbClr>
                </a:solidFill>
                <a:latin typeface="Arial" pitchFamily="34" charset="0"/>
                <a:ea typeface="Arial" pitchFamily="34" charset="-122"/>
                <a:cs typeface="Arial" pitchFamily="34" charset="-120"/>
              </a:rPr>
              <a:t>Tone suggests frustration with a recurring billing issue</a:t>
            </a:r>
            <a:endParaRPr lang="en-US" sz="1725" dirty="0"/>
          </a:p>
        </p:txBody>
      </p:sp>
      <p:sp>
        <p:nvSpPr>
          <p:cNvPr id="14" name="Shape 12"/>
          <p:cNvSpPr/>
          <p:nvPr/>
        </p:nvSpPr>
        <p:spPr>
          <a:xfrm>
            <a:off x="6921698" y="6573627"/>
            <a:ext cx="1612702" cy="342900"/>
          </a:xfrm>
          <a:prstGeom prst="roundRect">
            <a:avLst>
              <a:gd name="adj" fmla="val 50000"/>
            </a:avLst>
          </a:prstGeom>
          <a:solidFill>
            <a:srgbClr val="D99000">
              <a:alpha val="16000"/>
            </a:srgbClr>
          </a:solidFill>
          <a:ln/>
        </p:spPr>
      </p:sp>
      <p:sp>
        <p:nvSpPr>
          <p:cNvPr id="15" name="Text 13"/>
          <p:cNvSpPr/>
          <p:nvPr/>
        </p:nvSpPr>
        <p:spPr>
          <a:xfrm>
            <a:off x="7074098" y="6640302"/>
            <a:ext cx="1384102" cy="247650"/>
          </a:xfrm>
          <a:prstGeom prst="rect">
            <a:avLst/>
          </a:prstGeom>
          <a:noFill/>
          <a:ln/>
        </p:spPr>
        <p:txBody>
          <a:bodyPr wrap="none" lIns="25400" tIns="25400" rIns="25400" bIns="25400" rtlCol="0" anchor="t">
            <a:normAutofit/>
          </a:bodyPr>
          <a:lstStyle/>
          <a:p>
            <a:pPr algn="l" indent="0" marL="0">
              <a:buNone/>
            </a:pPr>
            <a:r>
              <a:rPr lang="en-US" sz="1425" b="1" dirty="0">
                <a:solidFill>
                  <a:srgbClr val="9A6600">
                    <a:alpha val="99000"/>
                  </a:srgbClr>
                </a:solidFill>
                <a:latin typeface="Arial" pitchFamily="34" charset="0"/>
                <a:ea typeface="Arial" pitchFamily="34" charset="-122"/>
                <a:cs typeface="Arial" pitchFamily="34" charset="-120"/>
              </a:rPr>
              <a:t>Staged / Canary</a:t>
            </a:r>
            <a:endParaRPr lang="en-US" sz="1425" dirty="0"/>
          </a:p>
        </p:txBody>
      </p:sp>
      <p:sp>
        <p:nvSpPr>
          <p:cNvPr id="16" name="Shape 14"/>
          <p:cNvSpPr/>
          <p:nvPr/>
        </p:nvSpPr>
        <p:spPr>
          <a:xfrm>
            <a:off x="1657350" y="7220285"/>
            <a:ext cx="6877050" cy="9525"/>
          </a:xfrm>
          <a:prstGeom prst="rect">
            <a:avLst/>
          </a:prstGeom>
          <a:solidFill>
            <a:srgbClr val="21212B">
              <a:alpha val="10000"/>
            </a:srgbClr>
          </a:solidFill>
          <a:ln/>
        </p:spPr>
      </p:sp>
      <p:sp>
        <p:nvSpPr>
          <p:cNvPr id="17" name="Text 15"/>
          <p:cNvSpPr/>
          <p:nvPr/>
        </p:nvSpPr>
        <p:spPr>
          <a:xfrm>
            <a:off x="1657350" y="7449331"/>
            <a:ext cx="4912474" cy="322808"/>
          </a:xfrm>
          <a:prstGeom prst="rect">
            <a:avLst/>
          </a:prstGeom>
          <a:noFill/>
          <a:ln/>
        </p:spPr>
        <p:txBody>
          <a:bodyPr wrap="square" lIns="25400" tIns="25400" rIns="25400" bIns="25400" rtlCol="0" anchor="t">
            <a:normAutofit/>
          </a:bodyPr>
          <a:lstStyle/>
          <a:p>
            <a:pPr algn="l" indent="0" marL="0">
              <a:lnSpc>
                <a:spcPct val="110741"/>
              </a:lnSpc>
              <a:buNone/>
            </a:pPr>
            <a:r>
              <a:rPr lang="en-US" sz="1725" spc="-17" kern="0" dirty="0">
                <a:solidFill>
                  <a:srgbClr val="21212B">
                    <a:alpha val="99000"/>
                  </a:srgbClr>
                </a:solidFill>
                <a:latin typeface="Arial" pitchFamily="34" charset="0"/>
                <a:ea typeface="Arial" pitchFamily="34" charset="-122"/>
                <a:cs typeface="Arial" pitchFamily="34" charset="-120"/>
              </a:rPr>
              <a:t>Complaint pattern suggests high churn risk</a:t>
            </a:r>
            <a:endParaRPr lang="en-US" sz="1725" dirty="0"/>
          </a:p>
        </p:txBody>
      </p:sp>
      <p:sp>
        <p:nvSpPr>
          <p:cNvPr id="18" name="Shape 16"/>
          <p:cNvSpPr/>
          <p:nvPr/>
        </p:nvSpPr>
        <p:spPr>
          <a:xfrm>
            <a:off x="7002512" y="7420310"/>
            <a:ext cx="1531888" cy="342900"/>
          </a:xfrm>
          <a:prstGeom prst="roundRect">
            <a:avLst>
              <a:gd name="adj" fmla="val 50000"/>
            </a:avLst>
          </a:prstGeom>
          <a:solidFill>
            <a:srgbClr val="FF5B8A">
              <a:alpha val="16000"/>
            </a:srgbClr>
          </a:solidFill>
          <a:ln/>
        </p:spPr>
      </p:sp>
      <p:sp>
        <p:nvSpPr>
          <p:cNvPr id="19" name="Text 17"/>
          <p:cNvSpPr/>
          <p:nvPr/>
        </p:nvSpPr>
        <p:spPr>
          <a:xfrm>
            <a:off x="7154912" y="7486985"/>
            <a:ext cx="1303288" cy="247650"/>
          </a:xfrm>
          <a:prstGeom prst="rect">
            <a:avLst/>
          </a:prstGeom>
          <a:noFill/>
          <a:ln/>
        </p:spPr>
        <p:txBody>
          <a:bodyPr wrap="none" lIns="25400" tIns="25400" rIns="25400" bIns="25400" rtlCol="0" anchor="t">
            <a:normAutofit/>
          </a:bodyPr>
          <a:lstStyle/>
          <a:p>
            <a:pPr algn="l" indent="0" marL="0">
              <a:buNone/>
            </a:pPr>
            <a:r>
              <a:rPr lang="en-US" sz="1425" b="1" dirty="0">
                <a:solidFill>
                  <a:srgbClr val="C22A4C">
                    <a:alpha val="99000"/>
                  </a:srgbClr>
                </a:solidFill>
                <a:latin typeface="Arial" pitchFamily="34" charset="0"/>
                <a:ea typeface="Arial" pitchFamily="34" charset="-122"/>
                <a:cs typeface="Arial" pitchFamily="34" charset="-120"/>
              </a:rPr>
              <a:t>Human Review</a:t>
            </a:r>
            <a:endParaRPr lang="en-US" sz="1425" dirty="0"/>
          </a:p>
        </p:txBody>
      </p:sp>
      <p:sp>
        <p:nvSpPr>
          <p:cNvPr id="20" name="Shape 18"/>
          <p:cNvSpPr/>
          <p:nvPr/>
        </p:nvSpPr>
        <p:spPr>
          <a:xfrm>
            <a:off x="9334500" y="4014527"/>
            <a:ext cx="7715250" cy="4489549"/>
          </a:xfrm>
          <a:prstGeom prst="roundRect">
            <a:avLst>
              <a:gd name="adj" fmla="val 5940"/>
            </a:avLst>
          </a:prstGeom>
          <a:solidFill>
            <a:srgbClr val="F2F0EB">
              <a:alpha val="99000"/>
            </a:srgbClr>
          </a:solidFill>
          <a:ln/>
        </p:spPr>
      </p:sp>
      <p:sp>
        <p:nvSpPr>
          <p:cNvPr id="21" name="Text 19"/>
          <p:cNvSpPr/>
          <p:nvPr/>
        </p:nvSpPr>
        <p:spPr>
          <a:xfrm>
            <a:off x="9753600" y="4433627"/>
            <a:ext cx="7564755" cy="342900"/>
          </a:xfrm>
          <a:prstGeom prst="rect">
            <a:avLst/>
          </a:prstGeom>
          <a:noFill/>
          <a:ln/>
        </p:spPr>
        <p:txBody>
          <a:bodyPr wrap="square" lIns="25400" tIns="25400" rIns="25400" bIns="25400" rtlCol="0" anchor="t">
            <a:normAutofit/>
          </a:bodyPr>
          <a:lstStyle/>
          <a:p>
            <a:pPr algn="l" indent="0" marL="0">
              <a:buNone/>
            </a:pPr>
            <a:r>
              <a:rPr lang="en-US" sz="2100" b="1" spc="-42" kern="0" dirty="0">
                <a:solidFill>
                  <a:srgbClr val="21212B">
                    <a:alpha val="99000"/>
                  </a:srgbClr>
                </a:solidFill>
                <a:latin typeface="Arial" pitchFamily="34" charset="0"/>
                <a:ea typeface="Arial" pitchFamily="34" charset="-122"/>
                <a:cs typeface="Arial" pitchFamily="34" charset="-120"/>
              </a:rPr>
              <a:t>Fraud Signal </a:t>
            </a:r>
            <a:pPr algn="l" indent="0" marL="0">
              <a:buNone/>
            </a:pPr>
            <a:r>
              <a:rPr lang="en-US" sz="2100" b="1" spc="-42" kern="0" dirty="0">
                <a:solidFill>
                  <a:srgbClr val="3694FC">
                    <a:alpha val="99000"/>
                  </a:srgbClr>
                </a:solidFill>
                <a:latin typeface="Arial" pitchFamily="34" charset="0"/>
                <a:ea typeface="Arial" pitchFamily="34" charset="-122"/>
                <a:cs typeface="Arial" pitchFamily="34" charset="-120"/>
              </a:rPr>
              <a:t>→ </a:t>
            </a:r>
            <a:pPr algn="l" indent="0" marL="0">
              <a:buNone/>
            </a:pPr>
            <a:r>
              <a:rPr lang="en-US" sz="2100" b="1" spc="-42" kern="0" dirty="0">
                <a:solidFill>
                  <a:srgbClr val="21212B">
                    <a:alpha val="99000"/>
                  </a:srgbClr>
                </a:solidFill>
                <a:latin typeface="Arial" pitchFamily="34" charset="0"/>
                <a:ea typeface="Arial" pitchFamily="34" charset="-122"/>
                <a:cs typeface="Arial" pitchFamily="34" charset="-120"/>
              </a:rPr>
              <a:t>Account-Action Agent</a:t>
            </a:r>
            <a:endParaRPr lang="en-US" sz="2100" dirty="0"/>
          </a:p>
        </p:txBody>
      </p:sp>
      <p:sp>
        <p:nvSpPr>
          <p:cNvPr id="22" name="Text 20"/>
          <p:cNvSpPr/>
          <p:nvPr/>
        </p:nvSpPr>
        <p:spPr>
          <a:xfrm>
            <a:off x="9753600" y="4795577"/>
            <a:ext cx="7564755" cy="276225"/>
          </a:xfrm>
          <a:prstGeom prst="rect">
            <a:avLst/>
          </a:prstGeom>
          <a:noFill/>
          <a:ln/>
        </p:spPr>
        <p:txBody>
          <a:bodyPr wrap="square" lIns="25400" tIns="25400" rIns="25400" bIns="25400" rtlCol="0" anchor="t">
            <a:normAutofit/>
          </a:bodyPr>
          <a:lstStyle/>
          <a:p>
            <a:pPr algn="l" indent="0" marL="0">
              <a:buNone/>
            </a:pPr>
            <a:r>
              <a:rPr lang="en-US" sz="1500" dirty="0">
                <a:solidFill>
                  <a:srgbClr val="9A9AA3">
                    <a:alpha val="99000"/>
                  </a:srgbClr>
                </a:solidFill>
                <a:latin typeface="Arial" pitchFamily="34" charset="0"/>
                <a:ea typeface="Arial" pitchFamily="34" charset="-122"/>
                <a:cs typeface="Arial" pitchFamily="34" charset="-120"/>
              </a:rPr>
              <a:t>fraud domain · 3 scenarios</a:t>
            </a:r>
            <a:endParaRPr lang="en-US" sz="1500" dirty="0"/>
          </a:p>
        </p:txBody>
      </p:sp>
      <p:sp>
        <p:nvSpPr>
          <p:cNvPr id="23" name="Shape 21"/>
          <p:cNvSpPr/>
          <p:nvPr/>
        </p:nvSpPr>
        <p:spPr>
          <a:xfrm>
            <a:off x="9753600" y="5300402"/>
            <a:ext cx="6877050" cy="9525"/>
          </a:xfrm>
          <a:prstGeom prst="rect">
            <a:avLst/>
          </a:prstGeom>
          <a:solidFill>
            <a:srgbClr val="21212B">
              <a:alpha val="10000"/>
            </a:srgbClr>
          </a:solidFill>
          <a:ln/>
        </p:spPr>
      </p:sp>
      <p:sp>
        <p:nvSpPr>
          <p:cNvPr id="24" name="Text 22"/>
          <p:cNvSpPr/>
          <p:nvPr/>
        </p:nvSpPr>
        <p:spPr>
          <a:xfrm>
            <a:off x="9753600" y="5500427"/>
            <a:ext cx="5454011" cy="607516"/>
          </a:xfrm>
          <a:prstGeom prst="rect">
            <a:avLst/>
          </a:prstGeom>
          <a:noFill/>
          <a:ln/>
        </p:spPr>
        <p:txBody>
          <a:bodyPr wrap="square" lIns="25400" tIns="25400" rIns="25400" bIns="25400" rtlCol="0" anchor="t">
            <a:normAutofit/>
          </a:bodyPr>
          <a:lstStyle/>
          <a:p>
            <a:pPr algn="l" indent="0" marL="0">
              <a:lnSpc>
                <a:spcPct val="110741"/>
              </a:lnSpc>
              <a:buNone/>
            </a:pPr>
            <a:r>
              <a:rPr lang="en-US" sz="1725" spc="-17" kern="0" dirty="0">
                <a:solidFill>
                  <a:srgbClr val="21212B">
                    <a:alpha val="99000"/>
                  </a:srgbClr>
                </a:solidFill>
                <a:latin typeface="Arial" pitchFamily="34" charset="0"/>
                <a:ea typeface="Arial" pitchFamily="34" charset="-122"/>
                <a:cs typeface="Arial" pitchFamily="34" charset="-120"/>
              </a:rPr>
              <a:t>Device mismatch plus exact match to a known fraud pattern</a:t>
            </a:r>
            <a:endParaRPr lang="en-US" sz="1725" dirty="0"/>
          </a:p>
        </p:txBody>
      </p:sp>
      <p:sp>
        <p:nvSpPr>
          <p:cNvPr id="25" name="Shape 23"/>
          <p:cNvSpPr/>
          <p:nvPr/>
        </p:nvSpPr>
        <p:spPr>
          <a:xfrm>
            <a:off x="15239256" y="5613685"/>
            <a:ext cx="1391394" cy="342900"/>
          </a:xfrm>
          <a:prstGeom prst="roundRect">
            <a:avLst>
              <a:gd name="adj" fmla="val 50000"/>
            </a:avLst>
          </a:prstGeom>
          <a:solidFill>
            <a:srgbClr val="00E2A0">
              <a:alpha val="16000"/>
            </a:srgbClr>
          </a:solidFill>
          <a:ln/>
        </p:spPr>
      </p:sp>
      <p:sp>
        <p:nvSpPr>
          <p:cNvPr id="26" name="Text 24"/>
          <p:cNvSpPr/>
          <p:nvPr/>
        </p:nvSpPr>
        <p:spPr>
          <a:xfrm>
            <a:off x="15391656" y="5680360"/>
            <a:ext cx="1162794" cy="247650"/>
          </a:xfrm>
          <a:prstGeom prst="rect">
            <a:avLst/>
          </a:prstGeom>
          <a:noFill/>
          <a:ln/>
        </p:spPr>
        <p:txBody>
          <a:bodyPr wrap="none" lIns="25400" tIns="25400" rIns="25400" bIns="25400" rtlCol="0" anchor="t">
            <a:normAutofit/>
          </a:bodyPr>
          <a:lstStyle/>
          <a:p>
            <a:pPr algn="l" indent="0" marL="0">
              <a:buNone/>
            </a:pPr>
            <a:r>
              <a:rPr lang="en-US" sz="1425" b="1" dirty="0">
                <a:solidFill>
                  <a:srgbClr val="06794F">
                    <a:alpha val="99000"/>
                  </a:srgbClr>
                </a:solidFill>
                <a:latin typeface="Arial" pitchFamily="34" charset="0"/>
                <a:ea typeface="Arial" pitchFamily="34" charset="-122"/>
                <a:cs typeface="Arial" pitchFamily="34" charset="-120"/>
              </a:rPr>
              <a:t>Auto-Execute</a:t>
            </a:r>
            <a:endParaRPr lang="en-US" sz="1425" dirty="0"/>
          </a:p>
        </p:txBody>
      </p:sp>
      <p:sp>
        <p:nvSpPr>
          <p:cNvPr id="27" name="Shape 25"/>
          <p:cNvSpPr/>
          <p:nvPr/>
        </p:nvSpPr>
        <p:spPr>
          <a:xfrm>
            <a:off x="9753600" y="6260343"/>
            <a:ext cx="6877050" cy="9525"/>
          </a:xfrm>
          <a:prstGeom prst="rect">
            <a:avLst/>
          </a:prstGeom>
          <a:solidFill>
            <a:srgbClr val="21212B">
              <a:alpha val="10000"/>
            </a:srgbClr>
          </a:solidFill>
          <a:ln/>
        </p:spPr>
      </p:sp>
      <p:sp>
        <p:nvSpPr>
          <p:cNvPr id="28" name="Text 26"/>
          <p:cNvSpPr/>
          <p:nvPr/>
        </p:nvSpPr>
        <p:spPr>
          <a:xfrm>
            <a:off x="9753600" y="6460368"/>
            <a:ext cx="5184981" cy="607516"/>
          </a:xfrm>
          <a:prstGeom prst="rect">
            <a:avLst/>
          </a:prstGeom>
          <a:noFill/>
          <a:ln/>
        </p:spPr>
        <p:txBody>
          <a:bodyPr wrap="square" lIns="25400" tIns="25400" rIns="25400" bIns="25400" rtlCol="0" anchor="t">
            <a:normAutofit/>
          </a:bodyPr>
          <a:lstStyle/>
          <a:p>
            <a:pPr algn="l" indent="0" marL="0">
              <a:lnSpc>
                <a:spcPct val="110741"/>
              </a:lnSpc>
              <a:buNone/>
            </a:pPr>
            <a:r>
              <a:rPr lang="en-US" sz="1725" spc="-17" kern="0" dirty="0">
                <a:solidFill>
                  <a:srgbClr val="21212B">
                    <a:alpha val="99000"/>
                  </a:srgbClr>
                </a:solidFill>
                <a:latin typeface="Arial" pitchFamily="34" charset="0"/>
                <a:ea typeface="Arial" pitchFamily="34" charset="-122"/>
                <a:cs typeface="Arial" pitchFamily="34" charset="-120"/>
              </a:rPr>
              <a:t>Unusual login location, no other corroborating signal</a:t>
            </a:r>
            <a:endParaRPr lang="en-US" sz="1725" dirty="0"/>
          </a:p>
        </p:txBody>
      </p:sp>
      <p:sp>
        <p:nvSpPr>
          <p:cNvPr id="29" name="Shape 27"/>
          <p:cNvSpPr/>
          <p:nvPr/>
        </p:nvSpPr>
        <p:spPr>
          <a:xfrm>
            <a:off x="14978062" y="6573627"/>
            <a:ext cx="1652588" cy="342900"/>
          </a:xfrm>
          <a:prstGeom prst="roundRect">
            <a:avLst>
              <a:gd name="adj" fmla="val 50000"/>
            </a:avLst>
          </a:prstGeom>
          <a:solidFill>
            <a:srgbClr val="FF5B8A">
              <a:alpha val="16000"/>
            </a:srgbClr>
          </a:solidFill>
          <a:ln/>
        </p:spPr>
      </p:sp>
      <p:sp>
        <p:nvSpPr>
          <p:cNvPr id="30" name="Text 28"/>
          <p:cNvSpPr/>
          <p:nvPr/>
        </p:nvSpPr>
        <p:spPr>
          <a:xfrm>
            <a:off x="15130463" y="6640302"/>
            <a:ext cx="1423988" cy="247650"/>
          </a:xfrm>
          <a:prstGeom prst="rect">
            <a:avLst/>
          </a:prstGeom>
          <a:noFill/>
          <a:ln/>
        </p:spPr>
        <p:txBody>
          <a:bodyPr wrap="none" lIns="25400" tIns="25400" rIns="25400" bIns="25400" rtlCol="0" anchor="t">
            <a:normAutofit/>
          </a:bodyPr>
          <a:lstStyle/>
          <a:p>
            <a:pPr algn="l" indent="0" marL="0">
              <a:buNone/>
            </a:pPr>
            <a:r>
              <a:rPr lang="en-US" sz="1425" b="1" dirty="0">
                <a:solidFill>
                  <a:srgbClr val="C22A4C">
                    <a:alpha val="99000"/>
                  </a:srgbClr>
                </a:solidFill>
                <a:latin typeface="Arial" pitchFamily="34" charset="0"/>
                <a:ea typeface="Arial" pitchFamily="34" charset="-122"/>
                <a:cs typeface="Arial" pitchFamily="34" charset="-120"/>
              </a:rPr>
              <a:t>Human Review *</a:t>
            </a:r>
            <a:endParaRPr lang="en-US" sz="1425" dirty="0"/>
          </a:p>
        </p:txBody>
      </p:sp>
      <p:sp>
        <p:nvSpPr>
          <p:cNvPr id="31" name="Shape 29"/>
          <p:cNvSpPr/>
          <p:nvPr/>
        </p:nvSpPr>
        <p:spPr>
          <a:xfrm>
            <a:off x="9753600" y="7220285"/>
            <a:ext cx="6877050" cy="9525"/>
          </a:xfrm>
          <a:prstGeom prst="rect">
            <a:avLst/>
          </a:prstGeom>
          <a:solidFill>
            <a:srgbClr val="21212B">
              <a:alpha val="10000"/>
            </a:srgbClr>
          </a:solidFill>
          <a:ln/>
        </p:spPr>
      </p:sp>
      <p:sp>
        <p:nvSpPr>
          <p:cNvPr id="32" name="Text 30"/>
          <p:cNvSpPr/>
          <p:nvPr/>
        </p:nvSpPr>
        <p:spPr>
          <a:xfrm>
            <a:off x="9753600" y="7420310"/>
            <a:ext cx="5309302" cy="607516"/>
          </a:xfrm>
          <a:prstGeom prst="rect">
            <a:avLst/>
          </a:prstGeom>
          <a:noFill/>
          <a:ln/>
        </p:spPr>
        <p:txBody>
          <a:bodyPr wrap="square" lIns="25400" tIns="25400" rIns="25400" bIns="25400" rtlCol="0" anchor="t">
            <a:normAutofit/>
          </a:bodyPr>
          <a:lstStyle/>
          <a:p>
            <a:pPr algn="l" indent="0" marL="0">
              <a:lnSpc>
                <a:spcPct val="110741"/>
              </a:lnSpc>
              <a:buNone/>
            </a:pPr>
            <a:r>
              <a:rPr lang="en-US" sz="1725" spc="-17" kern="0" dirty="0">
                <a:solidFill>
                  <a:srgbClr val="21212B">
                    <a:alpha val="99000"/>
                  </a:srgbClr>
                </a:solidFill>
                <a:latin typeface="Arial" pitchFamily="34" charset="0"/>
                <a:ea typeface="Arial" pitchFamily="34" charset="-122"/>
                <a:cs typeface="Arial" pitchFamily="34" charset="-120"/>
              </a:rPr>
              <a:t>Behavior loosely resembles a pattern from an unrelated case</a:t>
            </a:r>
            <a:endParaRPr lang="en-US" sz="1725" dirty="0"/>
          </a:p>
        </p:txBody>
      </p:sp>
      <p:sp>
        <p:nvSpPr>
          <p:cNvPr id="33" name="Shape 31"/>
          <p:cNvSpPr/>
          <p:nvPr/>
        </p:nvSpPr>
        <p:spPr>
          <a:xfrm>
            <a:off x="15098762" y="7533568"/>
            <a:ext cx="1531888" cy="342900"/>
          </a:xfrm>
          <a:prstGeom prst="roundRect">
            <a:avLst>
              <a:gd name="adj" fmla="val 50000"/>
            </a:avLst>
          </a:prstGeom>
          <a:solidFill>
            <a:srgbClr val="FF5B8A">
              <a:alpha val="16000"/>
            </a:srgbClr>
          </a:solidFill>
          <a:ln/>
        </p:spPr>
      </p:sp>
      <p:sp>
        <p:nvSpPr>
          <p:cNvPr id="34" name="Text 32"/>
          <p:cNvSpPr/>
          <p:nvPr/>
        </p:nvSpPr>
        <p:spPr>
          <a:xfrm>
            <a:off x="15251162" y="7600243"/>
            <a:ext cx="1303288" cy="247650"/>
          </a:xfrm>
          <a:prstGeom prst="rect">
            <a:avLst/>
          </a:prstGeom>
          <a:noFill/>
          <a:ln/>
        </p:spPr>
        <p:txBody>
          <a:bodyPr wrap="none" lIns="25400" tIns="25400" rIns="25400" bIns="25400" rtlCol="0" anchor="t">
            <a:normAutofit/>
          </a:bodyPr>
          <a:lstStyle/>
          <a:p>
            <a:pPr algn="l" indent="0" marL="0">
              <a:buNone/>
            </a:pPr>
            <a:r>
              <a:rPr lang="en-US" sz="1425" b="1" dirty="0">
                <a:solidFill>
                  <a:srgbClr val="C22A4C">
                    <a:alpha val="99000"/>
                  </a:srgbClr>
                </a:solidFill>
                <a:latin typeface="Arial" pitchFamily="34" charset="0"/>
                <a:ea typeface="Arial" pitchFamily="34" charset="-122"/>
                <a:cs typeface="Arial" pitchFamily="34" charset="-120"/>
              </a:rPr>
              <a:t>Human Review</a:t>
            </a:r>
            <a:endParaRPr lang="en-US" sz="1425" dirty="0"/>
          </a:p>
        </p:txBody>
      </p:sp>
      <p:sp>
        <p:nvSpPr>
          <p:cNvPr id="35" name="Text 33"/>
          <p:cNvSpPr/>
          <p:nvPr/>
        </p:nvSpPr>
        <p:spPr>
          <a:xfrm>
            <a:off x="1238250" y="8751726"/>
            <a:ext cx="16285845" cy="571500"/>
          </a:xfrm>
          <a:prstGeom prst="rect">
            <a:avLst/>
          </a:prstGeom>
          <a:noFill/>
          <a:ln/>
        </p:spPr>
        <p:txBody>
          <a:bodyPr wrap="square" lIns="25400" tIns="25400" rIns="25400" bIns="25400" rtlCol="0" anchor="t">
            <a:normAutofit/>
          </a:bodyPr>
          <a:lstStyle/>
          <a:p>
            <a:pPr algn="l" indent="0" marL="0">
              <a:lnSpc>
                <a:spcPct val="121739"/>
              </a:lnSpc>
              <a:buNone/>
            </a:pPr>
            <a:r>
              <a:rPr lang="en-US" sz="1500" spc="-15" kern="0" dirty="0">
                <a:solidFill>
                  <a:srgbClr val="9A9AA3">
                    <a:alpha val="99000"/>
                  </a:srgbClr>
                </a:solidFill>
                <a:latin typeface="Arial" pitchFamily="34" charset="0"/>
                <a:ea typeface="Arial" pitchFamily="34" charset="-122"/>
                <a:cs typeface="Arial" pitchFamily="34" charset="-120"/>
              </a:rPr>
              <a:t>* This scenario’s model call failed live during scoring — the system correctly escalated to Human Review under the same fail-closed rule referenced on the Demo slide, rather than guessing or defaulting to Auto-Execute.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12B"/>
        </a:solidFill>
      </p:bgPr>
    </p:bg>
    <p:spTree>
      <p:nvGrpSpPr>
        <p:cNvPr id="1" name=""/>
        <p:cNvGrpSpPr/>
        <p:nvPr/>
      </p:nvGrpSpPr>
      <p:grpSpPr>
        <a:xfrm>
          <a:off x="0" y="0"/>
          <a:ext cx="0" cy="0"/>
          <a:chOff x="0" y="0"/>
          <a:chExt cx="0" cy="0"/>
        </a:xfrm>
      </p:grpSpPr>
      <p:sp>
        <p:nvSpPr>
          <p:cNvPr id="2" name="Text 0"/>
          <p:cNvSpPr/>
          <p:nvPr/>
        </p:nvSpPr>
        <p:spPr>
          <a:xfrm>
            <a:off x="1238250" y="1862138"/>
            <a:ext cx="17392650" cy="304800"/>
          </a:xfrm>
          <a:prstGeom prst="rect">
            <a:avLst/>
          </a:prstGeom>
          <a:noFill/>
          <a:ln/>
        </p:spPr>
        <p:txBody>
          <a:bodyPr wrap="square" lIns="25400" tIns="25400" rIns="25400" bIns="25400" rtlCol="0" anchor="t">
            <a:normAutofit/>
          </a:bodyPr>
          <a:lstStyle/>
          <a:p>
            <a:pPr algn="l" indent="0" marL="0">
              <a:buNone/>
            </a:pPr>
            <a:r>
              <a:rPr lang="en-US" sz="1800" b="1" spc="36" kern="0" dirty="0">
                <a:solidFill>
                  <a:srgbClr val="3694FC"/>
                </a:solidFill>
                <a:latin typeface="Arial" pitchFamily="34" charset="0"/>
                <a:ea typeface="Arial" pitchFamily="34" charset="-122"/>
                <a:cs typeface="Arial" pitchFamily="34" charset="-120"/>
              </a:rPr>
              <a:t>Business value</a:t>
            </a:r>
            <a:endParaRPr lang="en-US" sz="1800" dirty="0"/>
          </a:p>
        </p:txBody>
      </p:sp>
      <p:sp>
        <p:nvSpPr>
          <p:cNvPr id="3" name="Text 1"/>
          <p:cNvSpPr/>
          <p:nvPr/>
        </p:nvSpPr>
        <p:spPr>
          <a:xfrm>
            <a:off x="1238250" y="2319338"/>
            <a:ext cx="8642658" cy="1320403"/>
          </a:xfrm>
          <a:prstGeom prst="rect">
            <a:avLst/>
          </a:prstGeom>
          <a:noFill/>
          <a:ln/>
        </p:spPr>
        <p:txBody>
          <a:bodyPr wrap="square" lIns="25400" tIns="25400" rIns="25400" bIns="25400" rtlCol="0" anchor="t">
            <a:normAutofit/>
          </a:bodyPr>
          <a:lstStyle/>
          <a:p>
            <a:pPr algn="l" indent="0" marL="0">
              <a:lnSpc>
                <a:spcPct val="88579"/>
              </a:lnSpc>
              <a:buNone/>
            </a:pPr>
            <a:r>
              <a:rPr lang="en-US" sz="4950" b="1" spc="-148" kern="0" dirty="0">
                <a:solidFill>
                  <a:srgbClr val="FFFFFF"/>
                </a:solidFill>
                <a:latin typeface="Arial" pitchFamily="34" charset="0"/>
                <a:ea typeface="Arial" pitchFamily="34" charset="-122"/>
                <a:cs typeface="Arial" pitchFamily="34" charset="-120"/>
              </a:rPr>
              <a:t>A concrete mechanism where today there’s only a concept</a:t>
            </a:r>
            <a:endParaRPr lang="en-US" sz="4950" dirty="0"/>
          </a:p>
        </p:txBody>
      </p:sp>
      <p:sp>
        <p:nvSpPr>
          <p:cNvPr id="4" name="Shape 2"/>
          <p:cNvSpPr/>
          <p:nvPr/>
        </p:nvSpPr>
        <p:spPr>
          <a:xfrm>
            <a:off x="1238250" y="4344757"/>
            <a:ext cx="15811500" cy="9525"/>
          </a:xfrm>
          <a:prstGeom prst="rect">
            <a:avLst/>
          </a:prstGeom>
          <a:solidFill>
            <a:srgbClr val="FFFFFF">
              <a:alpha val="18000"/>
            </a:srgbClr>
          </a:solidFill>
          <a:ln/>
        </p:spPr>
      </p:sp>
      <p:sp>
        <p:nvSpPr>
          <p:cNvPr id="5" name="Shape 3"/>
          <p:cNvSpPr/>
          <p:nvPr/>
        </p:nvSpPr>
        <p:spPr>
          <a:xfrm>
            <a:off x="1238250" y="4887682"/>
            <a:ext cx="609600" cy="47625"/>
          </a:xfrm>
          <a:prstGeom prst="roundRect">
            <a:avLst>
              <a:gd name="adj" fmla="val 50000"/>
            </a:avLst>
          </a:prstGeom>
          <a:gradFill rotWithShape="1">
            <a:gsLst>
              <a:gs pos="0">
                <a:srgbClr val="025AFB">
                  <a:alpha val="100000"/>
                </a:srgbClr>
              </a:gs>
              <a:gs pos="38000">
                <a:srgbClr val="3694FC">
                  <a:alpha val="100000"/>
                </a:srgbClr>
              </a:gs>
              <a:gs pos="100000">
                <a:srgbClr val="6100FF">
                  <a:alpha val="100000"/>
                </a:srgbClr>
              </a:gs>
            </a:gsLst>
            <a:lin ang="19080000" scaled="0"/>
          </a:gradFill>
          <a:ln/>
        </p:spPr>
      </p:sp>
      <p:sp>
        <p:nvSpPr>
          <p:cNvPr id="6" name="Text 4"/>
          <p:cNvSpPr/>
          <p:nvPr/>
        </p:nvSpPr>
        <p:spPr>
          <a:xfrm>
            <a:off x="1238250" y="5221057"/>
            <a:ext cx="5009921" cy="750391"/>
          </a:xfrm>
          <a:prstGeom prst="rect">
            <a:avLst/>
          </a:prstGeom>
          <a:noFill/>
          <a:ln/>
        </p:spPr>
        <p:txBody>
          <a:bodyPr wrap="square" lIns="25400" tIns="25400" rIns="25400" bIns="25400" rtlCol="0" anchor="t">
            <a:normAutofit/>
          </a:bodyPr>
          <a:lstStyle/>
          <a:p>
            <a:pPr algn="l" indent="0" marL="0">
              <a:lnSpc>
                <a:spcPct val="95897"/>
              </a:lnSpc>
              <a:buNone/>
            </a:pPr>
            <a:r>
              <a:rPr lang="en-US" sz="2550" b="1" spc="-51" kern="0" dirty="0">
                <a:solidFill>
                  <a:srgbClr val="FFFFFF"/>
                </a:solidFill>
                <a:latin typeface="Arial" pitchFamily="34" charset="0"/>
                <a:ea typeface="Arial" pitchFamily="34" charset="-122"/>
                <a:cs typeface="Arial" pitchFamily="34" charset="-120"/>
              </a:rPr>
              <a:t>Catches the mistake before it reaches a customer</a:t>
            </a:r>
            <a:endParaRPr lang="en-US" sz="2550" dirty="0"/>
          </a:p>
        </p:txBody>
      </p:sp>
      <p:sp>
        <p:nvSpPr>
          <p:cNvPr id="7" name="Text 5"/>
          <p:cNvSpPr/>
          <p:nvPr/>
        </p:nvSpPr>
        <p:spPr>
          <a:xfrm>
            <a:off x="1238250" y="6104798"/>
            <a:ext cx="5009921" cy="2358182"/>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alpha val="72000"/>
                  </a:srgbClr>
                </a:solidFill>
                <a:latin typeface="Arial" pitchFamily="34" charset="0"/>
                <a:ea typeface="Arial" pitchFamily="34" charset="-122"/>
                <a:cs typeface="Arial" pitchFamily="34" charset="-120"/>
              </a:rPr>
              <a:t>Every hard-to-reverse action a downstream agent takes on unverified inference is a support escalation, a wrongly-frozen account, or a retention promise the business can’t take back. This gate catches those before they execute, not after — turning an invisible risk into a scored, auditable decision.</a:t>
            </a:r>
            <a:endParaRPr lang="en-US" sz="1800" dirty="0"/>
          </a:p>
        </p:txBody>
      </p:sp>
      <p:sp>
        <p:nvSpPr>
          <p:cNvPr id="8" name="Shape 6"/>
          <p:cNvSpPr/>
          <p:nvPr/>
        </p:nvSpPr>
        <p:spPr>
          <a:xfrm>
            <a:off x="6711851" y="4887682"/>
            <a:ext cx="609600" cy="47625"/>
          </a:xfrm>
          <a:prstGeom prst="roundRect">
            <a:avLst>
              <a:gd name="adj" fmla="val 50000"/>
            </a:avLst>
          </a:prstGeom>
          <a:gradFill rotWithShape="1">
            <a:gsLst>
              <a:gs pos="0">
                <a:srgbClr val="025AFB">
                  <a:alpha val="100000"/>
                </a:srgbClr>
              </a:gs>
              <a:gs pos="45000">
                <a:srgbClr val="3694FC">
                  <a:alpha val="100000"/>
                </a:srgbClr>
              </a:gs>
              <a:gs pos="100000">
                <a:srgbClr val="36EAD0">
                  <a:alpha val="100000"/>
                </a:srgbClr>
              </a:gs>
            </a:gsLst>
            <a:lin ang="19080000" scaled="0"/>
          </a:gradFill>
          <a:ln/>
        </p:spPr>
      </p:sp>
      <p:sp>
        <p:nvSpPr>
          <p:cNvPr id="9" name="Text 7"/>
          <p:cNvSpPr/>
          <p:nvPr/>
        </p:nvSpPr>
        <p:spPr>
          <a:xfrm>
            <a:off x="6711851" y="5221057"/>
            <a:ext cx="5350565" cy="394246"/>
          </a:xfrm>
          <a:prstGeom prst="rect">
            <a:avLst/>
          </a:prstGeom>
          <a:noFill/>
          <a:ln/>
        </p:spPr>
        <p:txBody>
          <a:bodyPr wrap="square" lIns="25400" tIns="25400" rIns="25400" bIns="25400" rtlCol="0" anchor="t">
            <a:normAutofit/>
          </a:bodyPr>
          <a:lstStyle/>
          <a:p>
            <a:pPr algn="l" indent="0" marL="0">
              <a:lnSpc>
                <a:spcPct val="95897"/>
              </a:lnSpc>
              <a:buNone/>
            </a:pPr>
            <a:r>
              <a:rPr lang="en-US" sz="2550" b="1" spc="-51" kern="0" dirty="0">
                <a:solidFill>
                  <a:srgbClr val="FFFFFF"/>
                </a:solidFill>
                <a:latin typeface="Arial" pitchFamily="34" charset="0"/>
                <a:ea typeface="Arial" pitchFamily="34" charset="-122"/>
                <a:cs typeface="Arial" pitchFamily="34" charset="-120"/>
              </a:rPr>
              <a:t>Drops in without a rebuild</a:t>
            </a:r>
            <a:endParaRPr lang="en-US" sz="2550" dirty="0"/>
          </a:p>
        </p:txBody>
      </p:sp>
      <p:sp>
        <p:nvSpPr>
          <p:cNvPr id="10" name="Text 8"/>
          <p:cNvSpPr/>
          <p:nvPr/>
        </p:nvSpPr>
        <p:spPr>
          <a:xfrm>
            <a:off x="6711851" y="5748653"/>
            <a:ext cx="5010074" cy="2026741"/>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alpha val="72000"/>
                  </a:srgbClr>
                </a:solidFill>
                <a:latin typeface="Arial" pitchFamily="34" charset="0"/>
                <a:ea typeface="Arial" pitchFamily="34" charset="-122"/>
                <a:cs typeface="Arial" pitchFamily="34" charset="-120"/>
              </a:rPr>
              <a:t>No changes to either agent, no new infrastructure — the gate reads a claim and an action and returns a routing decision. Runs on one of the lowest-cost models available on Bedrock. A team can pilot this on one real handoff in days, not a quarter.</a:t>
            </a:r>
            <a:endParaRPr lang="en-US" sz="1800" dirty="0"/>
          </a:p>
        </p:txBody>
      </p:sp>
      <p:sp>
        <p:nvSpPr>
          <p:cNvPr id="11" name="Shape 9"/>
          <p:cNvSpPr/>
          <p:nvPr/>
        </p:nvSpPr>
        <p:spPr>
          <a:xfrm>
            <a:off x="12185600" y="4887682"/>
            <a:ext cx="609600" cy="47625"/>
          </a:xfrm>
          <a:prstGeom prst="roundRect">
            <a:avLst>
              <a:gd name="adj" fmla="val 50000"/>
            </a:avLst>
          </a:prstGeom>
          <a:gradFill rotWithShape="1">
            <a:gsLst>
              <a:gs pos="0">
                <a:srgbClr val="3694FC">
                  <a:alpha val="100000"/>
                </a:srgbClr>
              </a:gs>
              <a:gs pos="50000">
                <a:srgbClr val="025AFB">
                  <a:alpha val="100000"/>
                </a:srgbClr>
              </a:gs>
              <a:gs pos="100000">
                <a:srgbClr val="6100FF">
                  <a:alpha val="100000"/>
                </a:srgbClr>
              </a:gs>
            </a:gsLst>
            <a:lin ang="2700000" scaled="0"/>
          </a:gradFill>
          <a:ln/>
        </p:spPr>
      </p:sp>
      <p:sp>
        <p:nvSpPr>
          <p:cNvPr id="12" name="Text 10"/>
          <p:cNvSpPr/>
          <p:nvPr/>
        </p:nvSpPr>
        <p:spPr>
          <a:xfrm>
            <a:off x="12185600" y="5221057"/>
            <a:ext cx="5350401" cy="394246"/>
          </a:xfrm>
          <a:prstGeom prst="rect">
            <a:avLst/>
          </a:prstGeom>
          <a:noFill/>
          <a:ln/>
        </p:spPr>
        <p:txBody>
          <a:bodyPr wrap="square" lIns="25400" tIns="25400" rIns="25400" bIns="25400" rtlCol="0" anchor="t">
            <a:normAutofit/>
          </a:bodyPr>
          <a:lstStyle/>
          <a:p>
            <a:pPr algn="l" indent="0" marL="0">
              <a:lnSpc>
                <a:spcPct val="95897"/>
              </a:lnSpc>
              <a:buNone/>
            </a:pPr>
            <a:r>
              <a:rPr lang="en-US" sz="2550" b="1" spc="-51" kern="0" dirty="0">
                <a:solidFill>
                  <a:srgbClr val="FFFFFF"/>
                </a:solidFill>
                <a:latin typeface="Arial" pitchFamily="34" charset="0"/>
                <a:ea typeface="Arial" pitchFamily="34" charset="-122"/>
                <a:cs typeface="Arial" pitchFamily="34" charset="-120"/>
              </a:rPr>
              <a:t>Proven, not promised</a:t>
            </a:r>
            <a:endParaRPr lang="en-US" sz="2550" dirty="0"/>
          </a:p>
        </p:txBody>
      </p:sp>
      <p:sp>
        <p:nvSpPr>
          <p:cNvPr id="13" name="Text 11"/>
          <p:cNvSpPr/>
          <p:nvPr/>
        </p:nvSpPr>
        <p:spPr>
          <a:xfrm>
            <a:off x="12185600" y="5748653"/>
            <a:ext cx="5009921" cy="2026741"/>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alpha val="72000"/>
                  </a:srgbClr>
                </a:solidFill>
                <a:latin typeface="Arial" pitchFamily="34" charset="0"/>
                <a:ea typeface="Arial" pitchFamily="34" charset="-122"/>
                <a:cs typeface="Arial" pitchFamily="34" charset="-120"/>
              </a:rPr>
              <a:t>This is a live prototype, not a mockup: real Bedrock calls, defensive response parsing, a bounded retry, and a fail-closed default that has already been observed firing during rehearsal — exactly the discipline a governance layer has to have before anyone trusts it with real actions.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21212B">
                  <a:alpha val="72000"/>
                </a:srgbClr>
              </a:gs>
              <a:gs pos="60000">
                <a:srgbClr val="21212B">
                  <a:alpha val="30000"/>
                </a:srgbClr>
              </a:gs>
              <a:gs pos="100000">
                <a:srgbClr val="21212B">
                  <a:alpha val="5000"/>
                </a:srgbClr>
              </a:gs>
            </a:gsLst>
            <a:lin ang="0" scaled="0"/>
          </a:gradFill>
          <a:ln/>
        </p:spPr>
      </p:sp>
      <p:pic>
        <p:nvPicPr>
          <p:cNvPr id="4" name="Image 1" descr="preencoded.png">    </p:cNvPr>
          <p:cNvPicPr>
            <a:picLocks noChangeAspect="1"/>
          </p:cNvPicPr>
          <p:nvPr/>
        </p:nvPicPr>
        <p:blipFill>
          <a:blip r:embed="rId2"/>
          <a:stretch>
            <a:fillRect/>
          </a:stretch>
        </p:blipFill>
        <p:spPr>
          <a:xfrm>
            <a:off x="1238250" y="704850"/>
            <a:ext cx="944314" cy="438150"/>
          </a:xfrm>
          <a:prstGeom prst="rect">
            <a:avLst/>
          </a:prstGeom>
        </p:spPr>
      </p:pic>
      <p:sp>
        <p:nvSpPr>
          <p:cNvPr id="5" name="Text 1"/>
          <p:cNvSpPr/>
          <p:nvPr/>
        </p:nvSpPr>
        <p:spPr>
          <a:xfrm>
            <a:off x="1238250" y="2620863"/>
            <a:ext cx="17392650" cy="304800"/>
          </a:xfrm>
          <a:prstGeom prst="rect">
            <a:avLst/>
          </a:prstGeom>
          <a:noFill/>
          <a:ln/>
        </p:spPr>
        <p:txBody>
          <a:bodyPr wrap="square" lIns="25400" tIns="25400" rIns="25400" bIns="25400" rtlCol="0" anchor="t">
            <a:normAutofit/>
          </a:bodyPr>
          <a:lstStyle/>
          <a:p>
            <a:pPr algn="l" indent="0" marL="0">
              <a:buNone/>
            </a:pPr>
            <a:r>
              <a:rPr lang="en-US" sz="1800" b="1" spc="36" kern="0" dirty="0">
                <a:solidFill>
                  <a:srgbClr val="FFFFFF"/>
                </a:solidFill>
                <a:latin typeface="Arial" pitchFamily="34" charset="0"/>
                <a:ea typeface="Arial" pitchFamily="34" charset="-122"/>
                <a:cs typeface="Arial" pitchFamily="34" charset="-120"/>
              </a:rPr>
              <a:t>Blast Radius Governor</a:t>
            </a:r>
            <a:endParaRPr lang="en-US" sz="1800" dirty="0"/>
          </a:p>
        </p:txBody>
      </p:sp>
      <p:sp>
        <p:nvSpPr>
          <p:cNvPr id="6" name="Text 2"/>
          <p:cNvSpPr/>
          <p:nvPr/>
        </p:nvSpPr>
        <p:spPr>
          <a:xfrm>
            <a:off x="1238250" y="3135483"/>
            <a:ext cx="10214064" cy="2378124"/>
          </a:xfrm>
          <a:prstGeom prst="rect">
            <a:avLst/>
          </a:prstGeom>
          <a:noFill/>
          <a:ln/>
        </p:spPr>
        <p:txBody>
          <a:bodyPr wrap="square" lIns="25400" tIns="25400" rIns="25400" bIns="25400" rtlCol="0" anchor="t">
            <a:normAutofit/>
          </a:bodyPr>
          <a:lstStyle/>
          <a:p>
            <a:pPr algn="l" indent="0" marL="0">
              <a:lnSpc>
                <a:spcPct val="90000"/>
              </a:lnSpc>
              <a:buNone/>
            </a:pPr>
            <a:r>
              <a:rPr lang="en-US" sz="5850" b="1" spc="-175" kern="0" dirty="0">
                <a:solidFill>
                  <a:srgbClr val="21212B"/>
                </a:solidFill>
                <a:latin typeface="Arial" pitchFamily="34" charset="0"/>
                <a:ea typeface="Arial" pitchFamily="34" charset="-122"/>
                <a:cs typeface="Arial" pitchFamily="34" charset="-120"/>
              </a:rPr>
              <a:t>A governance agent that gates every handoff by how much rests on verified fact.</a:t>
            </a:r>
            <a:endParaRPr lang="en-US" sz="5850" dirty="0"/>
          </a:p>
        </p:txBody>
      </p:sp>
      <p:sp>
        <p:nvSpPr>
          <p:cNvPr id="7" name="Text 3"/>
          <p:cNvSpPr/>
          <p:nvPr/>
        </p:nvSpPr>
        <p:spPr>
          <a:xfrm>
            <a:off x="1238250" y="5821091"/>
            <a:ext cx="7202164" cy="838200"/>
          </a:xfrm>
          <a:prstGeom prst="rect">
            <a:avLst/>
          </a:prstGeom>
          <a:noFill/>
          <a:ln/>
        </p:spPr>
        <p:txBody>
          <a:bodyPr wrap="square" lIns="25400" tIns="25400" rIns="25400" bIns="25400" rtlCol="0" anchor="t">
            <a:normAutofit/>
          </a:bodyPr>
          <a:lstStyle/>
          <a:p>
            <a:pPr algn="l" indent="0" marL="0">
              <a:lnSpc>
                <a:spcPct val="123529"/>
              </a:lnSpc>
              <a:buNone/>
            </a:pPr>
            <a:r>
              <a:rPr lang="en-US" sz="2250" spc="-45" kern="0" dirty="0">
                <a:solidFill>
                  <a:srgbClr val="FFFFFF">
                    <a:alpha val="89000"/>
                  </a:srgbClr>
                </a:solidFill>
                <a:latin typeface="Arial" pitchFamily="34" charset="0"/>
                <a:ea typeface="Arial" pitchFamily="34" charset="-122"/>
                <a:cs typeface="Arial" pitchFamily="34" charset="-120"/>
              </a:rPr>
              <a:t>Proven general across two unrelated domains with one unmodified engine.</a:t>
            </a:r>
            <a:endParaRPr lang="en-US" sz="2250" dirty="0"/>
          </a:p>
        </p:txBody>
      </p:sp>
      <p:sp>
        <p:nvSpPr>
          <p:cNvPr id="8" name="Shape 4"/>
          <p:cNvSpPr/>
          <p:nvPr/>
        </p:nvSpPr>
        <p:spPr>
          <a:xfrm>
            <a:off x="1238250" y="7109297"/>
            <a:ext cx="13447812" cy="571500"/>
          </a:xfrm>
          <a:prstGeom prst="roundRect">
            <a:avLst>
              <a:gd name="adj" fmla="val 50000"/>
            </a:avLst>
          </a:prstGeom>
          <a:solidFill>
            <a:srgbClr val="FFFFFF">
              <a:alpha val="15000"/>
            </a:srgbClr>
          </a:solidFill>
          <a:ln w="9525">
            <a:solidFill>
              <a:srgbClr val="FFFFFF">
                <a:alpha val="28000"/>
              </a:srgbClr>
            </a:solidFill>
            <a:prstDash val="solid"/>
          </a:ln>
        </p:spPr>
      </p:sp>
      <p:sp>
        <p:nvSpPr>
          <p:cNvPr id="9" name="Text 5"/>
          <p:cNvSpPr/>
          <p:nvPr/>
        </p:nvSpPr>
        <p:spPr>
          <a:xfrm>
            <a:off x="1514475" y="7252172"/>
            <a:ext cx="13298796" cy="323850"/>
          </a:xfrm>
          <a:prstGeom prst="rect">
            <a:avLst/>
          </a:prstGeom>
          <a:noFill/>
          <a:ln/>
        </p:spPr>
        <p:txBody>
          <a:bodyPr wrap="square" lIns="25400" tIns="25400" rIns="25400" bIns="25400" rtlCol="0" anchor="ctr">
            <a:normAutofit/>
          </a:bodyPr>
          <a:lstStyle/>
          <a:p>
            <a:pPr algn="l" indent="0" marL="0">
              <a:buNone/>
            </a:pPr>
            <a:r>
              <a:rPr lang="en-US" sz="1800" spc="-36" kern="0" dirty="0">
                <a:solidFill>
                  <a:srgbClr val="FFFFFF">
                    <a:alpha val="94000"/>
                  </a:srgbClr>
                </a:solidFill>
                <a:latin typeface="Arial" pitchFamily="34" charset="0"/>
                <a:ea typeface="Arial" pitchFamily="34" charset="-122"/>
                <a:cs typeface="Arial" pitchFamily="34" charset="-120"/>
              </a:rPr>
              <a:t>Built solo in a 2-day sprint, with an AI coding agent — every scenario in this deck is a real, captured result, not a mockup</a:t>
            </a:r>
            <a:endParaRPr lang="en-US" sz="1800" dirty="0"/>
          </a:p>
        </p:txBody>
      </p:sp>
      <p:pic>
        <p:nvPicPr>
          <p:cNvPr id="10" name="Image 2" descr="preencoded.png">    </p:cNvPr>
          <p:cNvPicPr>
            <a:picLocks noChangeAspect="1"/>
          </p:cNvPicPr>
          <p:nvPr/>
        </p:nvPicPr>
        <p:blipFill>
          <a:blip r:embed="rId3"/>
          <a:stretch>
            <a:fillRect/>
          </a:stretch>
        </p:blipFill>
        <p:spPr>
          <a:xfrm>
            <a:off x="15906750" y="8477250"/>
            <a:ext cx="1238250" cy="12382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2026-07-16T14:37:30Z</dcterms:created>
  <dcterms:modified xsi:type="dcterms:W3CDTF">2026-07-16T14:37:30Z</dcterms:modified>
</cp:coreProperties>
</file>